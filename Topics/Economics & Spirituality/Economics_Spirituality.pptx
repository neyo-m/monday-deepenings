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4"/>
  </p:notesMasterIdLst>
  <p:sldIdLst>
    <p:sldId id="256" r:id="rId2"/>
    <p:sldId id="262" r:id="rId3"/>
    <p:sldId id="268" r:id="rId4"/>
    <p:sldId id="258" r:id="rId5"/>
    <p:sldId id="260" r:id="rId6"/>
    <p:sldId id="259" r:id="rId7"/>
    <p:sldId id="261" r:id="rId8"/>
    <p:sldId id="263" r:id="rId9"/>
    <p:sldId id="264" r:id="rId10"/>
    <p:sldId id="257"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3235" autoAdjust="0"/>
  </p:normalViewPr>
  <p:slideViewPr>
    <p:cSldViewPr snapToGrid="0">
      <p:cViewPr varScale="1">
        <p:scale>
          <a:sx n="60" d="100"/>
          <a:sy n="60" d="100"/>
        </p:scale>
        <p:origin x="1507"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D9511-5A40-428E-8B09-6EA76AECA494}" type="datetimeFigureOut">
              <a:rPr lang="en-TO" smtClean="0"/>
              <a:t>21/12/2025</a:t>
            </a:fld>
            <a:endParaRPr lang="en-T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T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100876-4DB5-454C-8C40-9C6744288D09}" type="slidenum">
              <a:rPr lang="en-TO" smtClean="0"/>
              <a:t>‹#›</a:t>
            </a:fld>
            <a:endParaRPr lang="en-TO"/>
          </a:p>
        </p:txBody>
      </p:sp>
    </p:spTree>
    <p:extLst>
      <p:ext uri="{BB962C8B-B14F-4D97-AF65-F5344CB8AC3E}">
        <p14:creationId xmlns:p14="http://schemas.microsoft.com/office/powerpoint/2010/main" val="898316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Adam Smith, considered the father of modern economics, also made some basic assumptions in order to provide more goods for man’s needs. Based on his observations, Smith built his theoretical economic system. One of the assumptions he made was that </a:t>
            </a:r>
            <a:r>
              <a:rPr lang="en-US" sz="1200" b="1" i="0" kern="1200" dirty="0">
                <a:solidFill>
                  <a:schemeClr val="tx1"/>
                </a:solidFill>
                <a:effectLst/>
                <a:latin typeface="+mn-lt"/>
                <a:ea typeface="+mn-ea"/>
                <a:cs typeface="+mn-cs"/>
              </a:rPr>
              <a:t>man always acts in his own interests </a:t>
            </a:r>
            <a:r>
              <a:rPr lang="en-US" sz="1200" b="0" i="0" kern="1200" dirty="0">
                <a:solidFill>
                  <a:schemeClr val="tx1"/>
                </a:solidFill>
                <a:effectLst/>
                <a:latin typeface="+mn-lt"/>
                <a:ea typeface="+mn-ea"/>
                <a:cs typeface="+mn-cs"/>
              </a:rPr>
              <a:t>and </a:t>
            </a:r>
            <a:r>
              <a:rPr lang="en-US" sz="1200" b="1" i="0" kern="1200" dirty="0">
                <a:solidFill>
                  <a:schemeClr val="tx1"/>
                </a:solidFill>
                <a:effectLst/>
                <a:latin typeface="+mn-lt"/>
                <a:ea typeface="+mn-ea"/>
                <a:cs typeface="+mn-cs"/>
              </a:rPr>
              <a:t>wants to maximize his satisfaction</a:t>
            </a:r>
            <a:r>
              <a:rPr lang="en-US" sz="1200" b="0" i="0" kern="1200" dirty="0">
                <a:solidFill>
                  <a:schemeClr val="tx1"/>
                </a:solidFill>
                <a:effectLst/>
                <a:latin typeface="+mn-lt"/>
                <a:ea typeface="+mn-ea"/>
                <a:cs typeface="+mn-cs"/>
              </a:rPr>
              <a:t>, so he believed that unfettered self-interest in free-market economies leads to economic prosperity.   </a:t>
            </a:r>
          </a:p>
          <a:p>
            <a:pPr fontAlgn="base"/>
            <a:r>
              <a:rPr lang="en-US" sz="1200" b="0" i="0" kern="1200" dirty="0">
                <a:solidFill>
                  <a:schemeClr val="tx1"/>
                </a:solidFill>
                <a:effectLst/>
                <a:latin typeface="+mn-lt"/>
                <a:ea typeface="+mn-ea"/>
                <a:cs typeface="+mn-cs"/>
              </a:rPr>
              <a:t>The other assumptions Smith mentioned in his famous book </a:t>
            </a:r>
            <a:r>
              <a:rPr lang="en-US" sz="1200" b="0" i="1" kern="1200" dirty="0">
                <a:solidFill>
                  <a:schemeClr val="tx1"/>
                </a:solidFill>
                <a:effectLst/>
                <a:latin typeface="+mn-lt"/>
                <a:ea typeface="+mn-ea"/>
                <a:cs typeface="+mn-cs"/>
              </a:rPr>
              <a:t>The Wealth of Nations</a:t>
            </a:r>
            <a:r>
              <a:rPr lang="en-US" sz="1200" b="0" i="0" kern="1200" dirty="0">
                <a:solidFill>
                  <a:schemeClr val="tx1"/>
                </a:solidFill>
                <a:effectLst/>
                <a:latin typeface="+mn-lt"/>
                <a:ea typeface="+mn-ea"/>
                <a:cs typeface="+mn-cs"/>
              </a:rPr>
              <a:t> included the use of the term “invisible hand,” a metaphor to describe the self-regulation of capitalist markets. He also advocated “laissez-faire economics,” which meant that governments should not interfere and economic markets should be left alone to take care of any problems. He expounded upon how rational self-interest and competition can lead to economic prosperity.  </a:t>
            </a:r>
          </a:p>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These two fundamental principles of the economic system introduced by Adam Smith were adopted by other economists. The principle of maximizing satisfaction created a sense of individualism which was praised and was the source of inspiration for many.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But this trend of economic thought, without any interference from governments or other agencies, </a:t>
            </a:r>
            <a:r>
              <a:rPr lang="en-US" sz="1200" b="1" i="0" kern="1200" dirty="0">
                <a:solidFill>
                  <a:schemeClr val="tx1"/>
                </a:solidFill>
                <a:effectLst/>
                <a:latin typeface="+mn-lt"/>
                <a:ea typeface="+mn-ea"/>
                <a:cs typeface="+mn-cs"/>
              </a:rPr>
              <a:t>created a breeding ground for greed and exploitation</a:t>
            </a:r>
            <a:r>
              <a:rPr lang="en-US" sz="1200" b="0" i="0" kern="1200" dirty="0">
                <a:solidFill>
                  <a:schemeClr val="tx1"/>
                </a:solidFill>
                <a:effectLst/>
                <a:latin typeface="+mn-lt"/>
                <a:ea typeface="+mn-ea"/>
                <a:cs typeface="+mn-cs"/>
              </a:rPr>
              <a:t>. It resulted in societies which lacked empathy and ignored the </a:t>
            </a:r>
            <a:r>
              <a:rPr lang="en-US" sz="1200" b="1" i="0" kern="1200" dirty="0">
                <a:solidFill>
                  <a:schemeClr val="tx1"/>
                </a:solidFill>
                <a:effectLst/>
                <a:latin typeface="+mn-lt"/>
                <a:ea typeface="+mn-ea"/>
                <a:cs typeface="+mn-cs"/>
              </a:rPr>
              <a:t>plight of the poor and needy</a:t>
            </a:r>
            <a:r>
              <a:rPr lang="en-US" sz="1200" b="0" i="0" kern="1200" dirty="0">
                <a:solidFill>
                  <a:schemeClr val="tx1"/>
                </a:solidFill>
                <a:effectLst/>
                <a:latin typeface="+mn-lt"/>
                <a:ea typeface="+mn-ea"/>
                <a:cs typeface="+mn-cs"/>
              </a:rPr>
              <a:t>. In those societies, the spirit of giving and sharing waned, and gradually the gap between the rich and poor grew greater. Accumulating </a:t>
            </a:r>
            <a:r>
              <a:rPr lang="en-US" sz="1200" b="1" i="0" kern="1200" dirty="0">
                <a:solidFill>
                  <a:schemeClr val="tx1"/>
                </a:solidFill>
                <a:effectLst/>
                <a:latin typeface="+mn-lt"/>
                <a:ea typeface="+mn-ea"/>
                <a:cs typeface="+mn-cs"/>
              </a:rPr>
              <a:t>wealth began to be considered as the highest achievement in a person’s life.</a:t>
            </a:r>
            <a:r>
              <a:rPr lang="en-US" sz="1200" b="0" i="0" kern="1200" dirty="0">
                <a:solidFill>
                  <a:schemeClr val="tx1"/>
                </a:solidFill>
                <a:effectLst/>
                <a:latin typeface="+mn-lt"/>
                <a:ea typeface="+mn-ea"/>
                <a:cs typeface="+mn-cs"/>
              </a:rPr>
              <a:t> Becoming rich became the goal of every man and the cost of achieving this goal was not questioned.    </a:t>
            </a:r>
          </a:p>
          <a:p>
            <a:pPr fontAlgn="base"/>
            <a:r>
              <a:rPr lang="en-US" sz="1200" b="0" i="0" kern="1200" dirty="0">
                <a:solidFill>
                  <a:schemeClr val="tx1"/>
                </a:solidFill>
                <a:effectLst/>
                <a:latin typeface="+mn-lt"/>
                <a:ea typeface="+mn-ea"/>
                <a:cs typeface="+mn-cs"/>
              </a:rPr>
              <a:t>But if the body and its needs become a barrier or hindrance to the progress of the soul, then there is a serious problem. These days, in the economic life of humanity, the body and its wants have taken over the needs and desires of the soul. The servant has become the master, and precious human lives are being wasted in the pursuit of the desires of the body. The Baha’i teachings explain:</a:t>
            </a:r>
          </a:p>
          <a:p>
            <a:br>
              <a:rPr lang="en-US" sz="1200" b="0" i="0" kern="1200" dirty="0">
                <a:solidFill>
                  <a:schemeClr val="tx1"/>
                </a:solidFill>
                <a:effectLst/>
                <a:latin typeface="+mn-lt"/>
                <a:ea typeface="+mn-ea"/>
                <a:cs typeface="+mn-cs"/>
              </a:rPr>
            </a:br>
            <a:endParaRPr lang="en-TO" dirty="0"/>
          </a:p>
        </p:txBody>
      </p:sp>
      <p:sp>
        <p:nvSpPr>
          <p:cNvPr id="4" name="Slide Number Placeholder 3"/>
          <p:cNvSpPr>
            <a:spLocks noGrp="1"/>
          </p:cNvSpPr>
          <p:nvPr>
            <p:ph type="sldNum" sz="quarter" idx="5"/>
          </p:nvPr>
        </p:nvSpPr>
        <p:spPr/>
        <p:txBody>
          <a:bodyPr/>
          <a:lstStyle/>
          <a:p>
            <a:fld id="{5E100876-4DB5-454C-8C40-9C6744288D09}" type="slidenum">
              <a:rPr lang="en-TO" smtClean="0"/>
              <a:t>3</a:t>
            </a:fld>
            <a:endParaRPr lang="en-TO"/>
          </a:p>
        </p:txBody>
      </p:sp>
    </p:spTree>
    <p:extLst>
      <p:ext uri="{BB962C8B-B14F-4D97-AF65-F5344CB8AC3E}">
        <p14:creationId xmlns:p14="http://schemas.microsoft.com/office/powerpoint/2010/main" val="4042972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point of highlighting CAR as the poorest country is the get these points across:</a:t>
            </a:r>
            <a:br>
              <a:rPr lang="en-US" dirty="0"/>
            </a:br>
            <a:br>
              <a:rPr lang="en-US" dirty="0"/>
            </a:br>
            <a:br>
              <a:rPr lang="en-US" dirty="0"/>
            </a:br>
            <a:r>
              <a:rPr lang="en-US" dirty="0"/>
              <a:t>The lack of ethics and corporate governance over this country does not exist. The corruption and greed seen in this country which is really caused by the idea </a:t>
            </a:r>
            <a:endParaRPr lang="en-TO" dirty="0"/>
          </a:p>
        </p:txBody>
      </p:sp>
      <p:sp>
        <p:nvSpPr>
          <p:cNvPr id="4" name="Slide Number Placeholder 3"/>
          <p:cNvSpPr>
            <a:spLocks noGrp="1"/>
          </p:cNvSpPr>
          <p:nvPr>
            <p:ph type="sldNum" sz="quarter" idx="5"/>
          </p:nvPr>
        </p:nvSpPr>
        <p:spPr/>
        <p:txBody>
          <a:bodyPr/>
          <a:lstStyle/>
          <a:p>
            <a:fld id="{5E100876-4DB5-454C-8C40-9C6744288D09}" type="slidenum">
              <a:rPr lang="en-TO" smtClean="0"/>
              <a:t>4</a:t>
            </a:fld>
            <a:endParaRPr lang="en-TO"/>
          </a:p>
        </p:txBody>
      </p:sp>
    </p:spTree>
    <p:extLst>
      <p:ext uri="{BB962C8B-B14F-4D97-AF65-F5344CB8AC3E}">
        <p14:creationId xmlns:p14="http://schemas.microsoft.com/office/powerpoint/2010/main" val="1150735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FEDB5-D58A-4B34-CC45-9C5AA669FF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09037-4225-ACE0-7E03-79167C8DE8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CBEFB2-C9A8-C5DD-11B3-D261ADAB70F9}"/>
              </a:ext>
            </a:extLst>
          </p:cNvPr>
          <p:cNvSpPr>
            <a:spLocks noGrp="1"/>
          </p:cNvSpPr>
          <p:nvPr>
            <p:ph type="body" idx="1"/>
          </p:nvPr>
        </p:nvSpPr>
        <p:spPr/>
        <p:txBody>
          <a:bodyPr/>
          <a:lstStyle/>
          <a:p>
            <a:r>
              <a:rPr lang="en-US" dirty="0"/>
              <a:t>The main point of highlighting CAR as the poorest country is the get these points across:</a:t>
            </a:r>
            <a:br>
              <a:rPr lang="en-US" dirty="0"/>
            </a:br>
            <a:br>
              <a:rPr lang="en-US" dirty="0"/>
            </a:br>
            <a:br>
              <a:rPr lang="en-US" dirty="0"/>
            </a:br>
            <a:r>
              <a:rPr lang="en-US" dirty="0"/>
              <a:t>The lack of ethics and governance over this country shows us the corruption. The greed, the </a:t>
            </a:r>
            <a:endParaRPr lang="en-TO" dirty="0"/>
          </a:p>
        </p:txBody>
      </p:sp>
      <p:sp>
        <p:nvSpPr>
          <p:cNvPr id="4" name="Slide Number Placeholder 3">
            <a:extLst>
              <a:ext uri="{FF2B5EF4-FFF2-40B4-BE49-F238E27FC236}">
                <a16:creationId xmlns:a16="http://schemas.microsoft.com/office/drawing/2014/main" id="{939566AC-1929-AA88-315C-E51326F72ACB}"/>
              </a:ext>
            </a:extLst>
          </p:cNvPr>
          <p:cNvSpPr>
            <a:spLocks noGrp="1"/>
          </p:cNvSpPr>
          <p:nvPr>
            <p:ph type="sldNum" sz="quarter" idx="5"/>
          </p:nvPr>
        </p:nvSpPr>
        <p:spPr/>
        <p:txBody>
          <a:bodyPr/>
          <a:lstStyle/>
          <a:p>
            <a:fld id="{5E100876-4DB5-454C-8C40-9C6744288D09}" type="slidenum">
              <a:rPr lang="en-TO" smtClean="0"/>
              <a:t>7</a:t>
            </a:fld>
            <a:endParaRPr lang="en-TO"/>
          </a:p>
        </p:txBody>
      </p:sp>
    </p:spTree>
    <p:extLst>
      <p:ext uri="{BB962C8B-B14F-4D97-AF65-F5344CB8AC3E}">
        <p14:creationId xmlns:p14="http://schemas.microsoft.com/office/powerpoint/2010/main" val="3844980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89EFE-842C-FBDC-811E-1F9B9947F9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EFA222-B7FE-E69A-1BF4-4772F00481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6E2C56-B636-15FA-3CA0-48471C90BFDA}"/>
              </a:ext>
            </a:extLst>
          </p:cNvPr>
          <p:cNvSpPr>
            <a:spLocks noGrp="1"/>
          </p:cNvSpPr>
          <p:nvPr>
            <p:ph type="body" idx="1"/>
          </p:nvPr>
        </p:nvSpPr>
        <p:spPr/>
        <p:txBody>
          <a:bodyPr/>
          <a:lstStyle/>
          <a:p>
            <a:r>
              <a:rPr lang="en-US" dirty="0"/>
              <a:t>The main point of highlighting CAR as the poorest country is the get these points across:</a:t>
            </a:r>
            <a:br>
              <a:rPr lang="en-US" dirty="0"/>
            </a:br>
            <a:br>
              <a:rPr lang="en-US" dirty="0"/>
            </a:br>
            <a:br>
              <a:rPr lang="en-US" dirty="0"/>
            </a:br>
            <a:r>
              <a:rPr lang="en-US" dirty="0"/>
              <a:t>The lack of ethics and governance over this country shows us the corruption. The greed, the </a:t>
            </a:r>
            <a:endParaRPr lang="en-TO" dirty="0"/>
          </a:p>
        </p:txBody>
      </p:sp>
      <p:sp>
        <p:nvSpPr>
          <p:cNvPr id="4" name="Slide Number Placeholder 3">
            <a:extLst>
              <a:ext uri="{FF2B5EF4-FFF2-40B4-BE49-F238E27FC236}">
                <a16:creationId xmlns:a16="http://schemas.microsoft.com/office/drawing/2014/main" id="{0C226E6B-94BF-C756-45B4-F4D2798D45D1}"/>
              </a:ext>
            </a:extLst>
          </p:cNvPr>
          <p:cNvSpPr>
            <a:spLocks noGrp="1"/>
          </p:cNvSpPr>
          <p:nvPr>
            <p:ph type="sldNum" sz="quarter" idx="5"/>
          </p:nvPr>
        </p:nvSpPr>
        <p:spPr/>
        <p:txBody>
          <a:bodyPr/>
          <a:lstStyle/>
          <a:p>
            <a:fld id="{5E100876-4DB5-454C-8C40-9C6744288D09}" type="slidenum">
              <a:rPr lang="en-TO" smtClean="0"/>
              <a:t>8</a:t>
            </a:fld>
            <a:endParaRPr lang="en-TO"/>
          </a:p>
        </p:txBody>
      </p:sp>
    </p:spTree>
    <p:extLst>
      <p:ext uri="{BB962C8B-B14F-4D97-AF65-F5344CB8AC3E}">
        <p14:creationId xmlns:p14="http://schemas.microsoft.com/office/powerpoint/2010/main" val="337782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187FF-E549-8607-1178-25423E5E8F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A0B8B-C2D7-142B-112E-9375078A73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C50F52-8202-347D-4178-58CB21DF5E93}"/>
              </a:ext>
            </a:extLst>
          </p:cNvPr>
          <p:cNvSpPr>
            <a:spLocks noGrp="1"/>
          </p:cNvSpPr>
          <p:nvPr>
            <p:ph type="body" idx="1"/>
          </p:nvPr>
        </p:nvSpPr>
        <p:spPr/>
        <p:txBody>
          <a:bodyPr/>
          <a:lstStyle/>
          <a:p>
            <a:r>
              <a:rPr lang="en-US" dirty="0"/>
              <a:t>Highest rates of youth unemployment – Greece Italy </a:t>
            </a:r>
            <a:r>
              <a:rPr lang="en-US" dirty="0" err="1"/>
              <a:t>frace</a:t>
            </a:r>
            <a:endParaRPr lang="en-US" dirty="0"/>
          </a:p>
          <a:p>
            <a:endParaRPr lang="en-US" dirty="0"/>
          </a:p>
          <a:p>
            <a:endParaRPr lang="en-TO" dirty="0"/>
          </a:p>
        </p:txBody>
      </p:sp>
      <p:sp>
        <p:nvSpPr>
          <p:cNvPr id="4" name="Slide Number Placeholder 3">
            <a:extLst>
              <a:ext uri="{FF2B5EF4-FFF2-40B4-BE49-F238E27FC236}">
                <a16:creationId xmlns:a16="http://schemas.microsoft.com/office/drawing/2014/main" id="{6A7AA866-0F31-1FBF-FBCD-DD70B553483E}"/>
              </a:ext>
            </a:extLst>
          </p:cNvPr>
          <p:cNvSpPr>
            <a:spLocks noGrp="1"/>
          </p:cNvSpPr>
          <p:nvPr>
            <p:ph type="sldNum" sz="quarter" idx="5"/>
          </p:nvPr>
        </p:nvSpPr>
        <p:spPr/>
        <p:txBody>
          <a:bodyPr/>
          <a:lstStyle/>
          <a:p>
            <a:fld id="{5E100876-4DB5-454C-8C40-9C6744288D09}" type="slidenum">
              <a:rPr lang="en-TO" smtClean="0"/>
              <a:t>9</a:t>
            </a:fld>
            <a:endParaRPr lang="en-TO"/>
          </a:p>
        </p:txBody>
      </p:sp>
    </p:spTree>
    <p:extLst>
      <p:ext uri="{BB962C8B-B14F-4D97-AF65-F5344CB8AC3E}">
        <p14:creationId xmlns:p14="http://schemas.microsoft.com/office/powerpoint/2010/main" val="41079531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the chimpanzee example and how it is within the DNA of our creation to be fair. </a:t>
            </a:r>
            <a:endParaRPr lang="en-TO" dirty="0"/>
          </a:p>
        </p:txBody>
      </p:sp>
      <p:sp>
        <p:nvSpPr>
          <p:cNvPr id="4" name="Slide Number Placeholder 3"/>
          <p:cNvSpPr>
            <a:spLocks noGrp="1"/>
          </p:cNvSpPr>
          <p:nvPr>
            <p:ph type="sldNum" sz="quarter" idx="5"/>
          </p:nvPr>
        </p:nvSpPr>
        <p:spPr/>
        <p:txBody>
          <a:bodyPr/>
          <a:lstStyle/>
          <a:p>
            <a:fld id="{5E100876-4DB5-454C-8C40-9C6744288D09}" type="slidenum">
              <a:rPr lang="en-TO" smtClean="0"/>
              <a:t>10</a:t>
            </a:fld>
            <a:endParaRPr lang="en-TO"/>
          </a:p>
        </p:txBody>
      </p:sp>
    </p:spTree>
    <p:extLst>
      <p:ext uri="{BB962C8B-B14F-4D97-AF65-F5344CB8AC3E}">
        <p14:creationId xmlns:p14="http://schemas.microsoft.com/office/powerpoint/2010/main" val="3635193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D9CD3-1D56-A4B6-FCBC-B6E8BE0D49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0558CA-6A31-6D50-0A63-DD4BA9D17E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0E4799-1213-9CC6-B066-3A59A4CBBEB1}"/>
              </a:ext>
            </a:extLst>
          </p:cNvPr>
          <p:cNvSpPr>
            <a:spLocks noGrp="1"/>
          </p:cNvSpPr>
          <p:nvPr>
            <p:ph type="body" idx="1"/>
          </p:nvPr>
        </p:nvSpPr>
        <p:spPr/>
        <p:txBody>
          <a:bodyPr/>
          <a:lstStyle/>
          <a:p>
            <a:r>
              <a:rPr lang="en-US" dirty="0"/>
              <a:t>Highest rates of youth unemployment – Greece Italy </a:t>
            </a:r>
            <a:r>
              <a:rPr lang="en-US" dirty="0" err="1"/>
              <a:t>frace</a:t>
            </a:r>
            <a:endParaRPr lang="en-US" dirty="0"/>
          </a:p>
          <a:p>
            <a:endParaRPr lang="en-US" dirty="0"/>
          </a:p>
          <a:p>
            <a:endParaRPr lang="en-TO" dirty="0"/>
          </a:p>
        </p:txBody>
      </p:sp>
      <p:sp>
        <p:nvSpPr>
          <p:cNvPr id="4" name="Slide Number Placeholder 3">
            <a:extLst>
              <a:ext uri="{FF2B5EF4-FFF2-40B4-BE49-F238E27FC236}">
                <a16:creationId xmlns:a16="http://schemas.microsoft.com/office/drawing/2014/main" id="{DB753181-5BDA-29EA-A7A5-BAFC46508307}"/>
              </a:ext>
            </a:extLst>
          </p:cNvPr>
          <p:cNvSpPr>
            <a:spLocks noGrp="1"/>
          </p:cNvSpPr>
          <p:nvPr>
            <p:ph type="sldNum" sz="quarter" idx="5"/>
          </p:nvPr>
        </p:nvSpPr>
        <p:spPr/>
        <p:txBody>
          <a:bodyPr/>
          <a:lstStyle/>
          <a:p>
            <a:fld id="{5E100876-4DB5-454C-8C40-9C6744288D09}" type="slidenum">
              <a:rPr lang="en-TO" smtClean="0"/>
              <a:t>11</a:t>
            </a:fld>
            <a:endParaRPr lang="en-TO"/>
          </a:p>
        </p:txBody>
      </p:sp>
    </p:spTree>
    <p:extLst>
      <p:ext uri="{BB962C8B-B14F-4D97-AF65-F5344CB8AC3E}">
        <p14:creationId xmlns:p14="http://schemas.microsoft.com/office/powerpoint/2010/main" val="3179363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95000"/>
                  </a:schemeClr>
                </a:solidFill>
              </a:rPr>
              <a:t>Every single cell works, and every organ that works independently although works </a:t>
            </a:r>
            <a:r>
              <a:rPr lang="en-US" sz="1200" dirty="0" err="1">
                <a:solidFill>
                  <a:schemeClr val="tx1">
                    <a:lumMod val="95000"/>
                  </a:schemeClr>
                </a:solidFill>
              </a:rPr>
              <a:t>ndependently</a:t>
            </a:r>
            <a:r>
              <a:rPr lang="en-US" sz="1200" dirty="0">
                <a:solidFill>
                  <a:schemeClr val="tx1">
                    <a:lumMod val="95000"/>
                  </a:schemeClr>
                </a:solidFill>
              </a:rPr>
              <a:t> but they work in close </a:t>
            </a:r>
            <a:r>
              <a:rPr lang="en-US" sz="1200" dirty="0" err="1">
                <a:solidFill>
                  <a:schemeClr val="tx1">
                    <a:lumMod val="95000"/>
                  </a:schemeClr>
                </a:solidFill>
              </a:rPr>
              <a:t>coopereation</a:t>
            </a:r>
            <a:r>
              <a:rPr lang="en-US" sz="1200" dirty="0">
                <a:solidFill>
                  <a:schemeClr val="tx1">
                    <a:lumMod val="95000"/>
                  </a:schemeClr>
                </a:solidFill>
              </a:rPr>
              <a:t> of each other. If one cell doesn’t function, then all the other parts of the body is becoming dysfunctional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9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95000"/>
                  </a:schemeClr>
                </a:solidFill>
              </a:rPr>
              <a:t>In the Writings – is there a Bahai economic system?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95000"/>
                  </a:schemeClr>
                </a:solidFill>
              </a:rPr>
              <a:t>No we don’t. We don’t. Baha’u’llah brought the Writings and </a:t>
            </a:r>
            <a:r>
              <a:rPr lang="en-US" sz="1200" dirty="0" err="1">
                <a:solidFill>
                  <a:schemeClr val="tx1">
                    <a:lumMod val="95000"/>
                  </a:schemeClr>
                </a:solidFill>
              </a:rPr>
              <a:t>Shoghi</a:t>
            </a:r>
            <a:r>
              <a:rPr lang="en-US" sz="1200" dirty="0">
                <a:solidFill>
                  <a:schemeClr val="tx1">
                    <a:lumMod val="95000"/>
                  </a:schemeClr>
                </a:solidFill>
              </a:rPr>
              <a:t> Effendi expounds on this more – in UHJ world governing body in future will bring expert in the field of economy, sociology, politics, after they have investigated and studied the entirety of the </a:t>
            </a:r>
            <a:r>
              <a:rPr lang="en-US" sz="1200" dirty="0" err="1">
                <a:solidFill>
                  <a:schemeClr val="tx1">
                    <a:lumMod val="95000"/>
                  </a:schemeClr>
                </a:solidFill>
              </a:rPr>
              <a:t>fatih</a:t>
            </a:r>
            <a:r>
              <a:rPr lang="en-US" sz="1200" dirty="0">
                <a:solidFill>
                  <a:schemeClr val="tx1">
                    <a:lumMod val="95000"/>
                  </a:schemeClr>
                </a:solidFill>
              </a:rPr>
              <a:t> will band together and come up with a system that will be the future world order WRT to religion and spiritual principles. So, when is that going to happen? The time? We do not know.</a:t>
            </a:r>
            <a:br>
              <a:rPr lang="en-US" sz="1200" dirty="0">
                <a:solidFill>
                  <a:schemeClr val="tx1">
                    <a:lumMod val="95000"/>
                  </a:schemeClr>
                </a:solidFill>
              </a:rPr>
            </a:br>
            <a:br>
              <a:rPr lang="en-US" sz="1200" dirty="0">
                <a:solidFill>
                  <a:schemeClr val="tx1">
                    <a:lumMod val="95000"/>
                  </a:schemeClr>
                </a:solidFill>
              </a:rPr>
            </a:br>
            <a:r>
              <a:rPr lang="en-US" sz="1200" dirty="0">
                <a:solidFill>
                  <a:schemeClr val="tx1">
                    <a:lumMod val="95000"/>
                  </a:schemeClr>
                </a:solidFill>
              </a:rPr>
              <a:t>But one thing we do know, is that the Bahai community all around the world is engaging with over 5000 localities around the world with the process (institute process for children education) – empowering JY and children – to plant the seed of the new world order and the new race of man – create a people that they do believe in righteousness, in truthfulness , that ultimately they can adopt every single virtue in our daily lives and in our business.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9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95000"/>
                  </a:schemeClr>
                </a:solidFill>
              </a:rPr>
              <a:t>If we understand that every talent and faculty that each one of us has, is for one single purpose, and that single purpose is purely for the purpose of the others – then the world is not about accumulating wealth but it is about the service to others and how we can stretch our hands to others and how we can create a community that we are proud of.</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9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9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95000"/>
                  </a:schemeClr>
                </a:solidFill>
              </a:rPr>
              <a:t>(Example of Ceasar) – if we now understand that our purpose in this world is not about accumulating the wealth or how rich you are. But about the effect that you have and the social cohesion with the people that crosses our paths – that we believe what the Bahais are currently doing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9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95000"/>
                  </a:schemeClr>
                </a:solidFill>
              </a:rPr>
              <a:t>Guardian says: Apart form supporting government intervention, to correct all types of market failures through legislation – there are </a:t>
            </a:r>
            <a:r>
              <a:rPr lang="en-US" sz="1200" dirty="0" err="1">
                <a:solidFill>
                  <a:schemeClr val="tx1">
                    <a:lumMod val="95000"/>
                  </a:schemeClr>
                </a:solidFill>
              </a:rPr>
              <a:t>enumerous</a:t>
            </a:r>
            <a:r>
              <a:rPr lang="en-US" sz="1200" dirty="0">
                <a:solidFill>
                  <a:schemeClr val="tx1">
                    <a:lumMod val="95000"/>
                  </a:schemeClr>
                </a:solidFill>
              </a:rPr>
              <a:t> ethical and spiritual principles that influences individual and business to have a new way of thinking or to have a different lifestyle </a:t>
            </a:r>
            <a:r>
              <a:rPr lang="en-US" sz="1200" dirty="0" err="1">
                <a:solidFill>
                  <a:schemeClr val="tx1">
                    <a:lumMod val="95000"/>
                  </a:schemeClr>
                </a:solidFill>
              </a:rPr>
              <a:t>behaviour</a:t>
            </a:r>
            <a:r>
              <a:rPr lang="en-US" sz="1200" dirty="0">
                <a:solidFill>
                  <a:schemeClr val="tx1">
                    <a:lumMod val="95000"/>
                  </a:schemeClr>
                </a:solidFill>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9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95000"/>
                  </a:schemeClr>
                </a:solidFill>
              </a:rPr>
              <a:t>Further,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9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95000"/>
                  </a:schemeClr>
                </a:solidFill>
              </a:rPr>
              <a:t>The Baha’i vision is working towards an ever-advancing civilization and service to humanity. There is a clear and universal holistic view of multi-dimensional approach – today, we see a glimpse of unfolding change as the disparity between the extremes of wealth and poverty show a widening gap illustrating that the statement of the global society is concerned about the future sustainability of the world economy. There are more fair and just balance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9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95000"/>
                  </a:schemeClr>
                </a:solidFill>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9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95000"/>
                  </a:schemeClr>
                </a:solidFill>
              </a:rPr>
              <a:t>UHJ states: The primary concentration is the spirit that has permeate our economy life and will gradually crystallize itself that will define institution and the principle that will help to bring about the ideal condition foretold by Baha’u’llah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9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9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95000"/>
                  </a:schemeClr>
                </a:solidFill>
              </a:rPr>
              <a:t>Overall – the guidance we receive around the virtues – it will come to the point in summary the current definition of our economic frameworks may not work with the Bahai approach. Go to the politician (it is a foreign concept) – </a:t>
            </a:r>
            <a:r>
              <a:rPr lang="en-US" sz="1200" dirty="0" err="1">
                <a:solidFill>
                  <a:schemeClr val="tx1">
                    <a:lumMod val="95000"/>
                  </a:schemeClr>
                </a:solidFill>
              </a:rPr>
              <a:t>chariman</a:t>
            </a:r>
            <a:r>
              <a:rPr lang="en-US" sz="1200" dirty="0">
                <a:solidFill>
                  <a:schemeClr val="tx1">
                    <a:lumMod val="95000"/>
                  </a:schemeClr>
                </a:solidFill>
              </a:rPr>
              <a:t> of public company – it is in my function/purpose to act within the interest of my shareholder – it cannot be to look after those that we buy the property from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9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95000"/>
                  </a:schemeClr>
                </a:solidFill>
              </a:rPr>
              <a:t>It is perspective to rethink, educational purpose , the school system we currently have created – is based on how we compete on each other based on intelligence – give to the more intelligent to give them scholarship – we don’t stop to think when they graduate from the school – what kind of human did we create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95000"/>
                  </a:schemeClr>
                </a:solidFill>
              </a:rPr>
              <a:t>How bad might they be professionally but how good might they can be as a human being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9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95000"/>
                  </a:schemeClr>
                </a:solidFill>
              </a:rPr>
              <a:t>Compulsory education is not to create professionals.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9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9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95000"/>
                  </a:schemeClr>
                </a:solidFill>
              </a:rPr>
              <a:t>In conclusion -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9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TO" sz="1200" dirty="0">
              <a:solidFill>
                <a:schemeClr val="tx1">
                  <a:lumMod val="95000"/>
                </a:schemeClr>
              </a:solidFill>
            </a:endParaRPr>
          </a:p>
          <a:p>
            <a:endParaRPr lang="en-TO" dirty="0"/>
          </a:p>
        </p:txBody>
      </p:sp>
      <p:sp>
        <p:nvSpPr>
          <p:cNvPr id="4" name="Slide Number Placeholder 3"/>
          <p:cNvSpPr>
            <a:spLocks noGrp="1"/>
          </p:cNvSpPr>
          <p:nvPr>
            <p:ph type="sldNum" sz="quarter" idx="5"/>
          </p:nvPr>
        </p:nvSpPr>
        <p:spPr/>
        <p:txBody>
          <a:bodyPr/>
          <a:lstStyle/>
          <a:p>
            <a:fld id="{5E100876-4DB5-454C-8C40-9C6744288D09}" type="slidenum">
              <a:rPr lang="en-TO" smtClean="0"/>
              <a:t>12</a:t>
            </a:fld>
            <a:endParaRPr lang="en-TO"/>
          </a:p>
        </p:txBody>
      </p:sp>
    </p:spTree>
    <p:extLst>
      <p:ext uri="{BB962C8B-B14F-4D97-AF65-F5344CB8AC3E}">
        <p14:creationId xmlns:p14="http://schemas.microsoft.com/office/powerpoint/2010/main" val="4015778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35B88A72-0929-4CFE-999D-48DFD199A9D7}" type="datetimeFigureOut">
              <a:rPr lang="en-TO" smtClean="0"/>
              <a:t>21/12/2025</a:t>
            </a:fld>
            <a:endParaRPr lang="en-TO"/>
          </a:p>
        </p:txBody>
      </p:sp>
      <p:sp>
        <p:nvSpPr>
          <p:cNvPr id="8" name="Footer Placeholder 7"/>
          <p:cNvSpPr>
            <a:spLocks noGrp="1"/>
          </p:cNvSpPr>
          <p:nvPr>
            <p:ph type="ftr" sz="quarter" idx="11"/>
          </p:nvPr>
        </p:nvSpPr>
        <p:spPr/>
        <p:txBody>
          <a:bodyPr/>
          <a:lstStyle/>
          <a:p>
            <a:endParaRPr lang="en-TO"/>
          </a:p>
        </p:txBody>
      </p:sp>
      <p:sp>
        <p:nvSpPr>
          <p:cNvPr id="9" name="Slide Number Placeholder 8"/>
          <p:cNvSpPr>
            <a:spLocks noGrp="1"/>
          </p:cNvSpPr>
          <p:nvPr>
            <p:ph type="sldNum" sz="quarter" idx="12"/>
          </p:nvPr>
        </p:nvSpPr>
        <p:spPr/>
        <p:txBody>
          <a:bodyPr/>
          <a:lstStyle/>
          <a:p>
            <a:fld id="{0EB657A0-B508-422D-B9E8-B6C35203018A}" type="slidenum">
              <a:rPr lang="en-TO" smtClean="0"/>
              <a:t>‹#›</a:t>
            </a:fld>
            <a:endParaRPr lang="en-TO"/>
          </a:p>
        </p:txBody>
      </p:sp>
    </p:spTree>
    <p:extLst>
      <p:ext uri="{BB962C8B-B14F-4D97-AF65-F5344CB8AC3E}">
        <p14:creationId xmlns:p14="http://schemas.microsoft.com/office/powerpoint/2010/main" val="14099829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B88A72-0929-4CFE-999D-48DFD199A9D7}" type="datetimeFigureOut">
              <a:rPr lang="en-TO" smtClean="0"/>
              <a:t>21/12/2025</a:t>
            </a:fld>
            <a:endParaRPr lang="en-TO"/>
          </a:p>
        </p:txBody>
      </p:sp>
      <p:sp>
        <p:nvSpPr>
          <p:cNvPr id="8" name="Footer Placeholder 7"/>
          <p:cNvSpPr>
            <a:spLocks noGrp="1"/>
          </p:cNvSpPr>
          <p:nvPr>
            <p:ph type="ftr" sz="quarter" idx="11"/>
          </p:nvPr>
        </p:nvSpPr>
        <p:spPr/>
        <p:txBody>
          <a:bodyPr/>
          <a:lstStyle/>
          <a:p>
            <a:endParaRPr lang="en-TO"/>
          </a:p>
        </p:txBody>
      </p:sp>
      <p:sp>
        <p:nvSpPr>
          <p:cNvPr id="9" name="Slide Number Placeholder 8"/>
          <p:cNvSpPr>
            <a:spLocks noGrp="1"/>
          </p:cNvSpPr>
          <p:nvPr>
            <p:ph type="sldNum" sz="quarter" idx="12"/>
          </p:nvPr>
        </p:nvSpPr>
        <p:spPr/>
        <p:txBody>
          <a:bodyPr/>
          <a:lstStyle/>
          <a:p>
            <a:fld id="{0EB657A0-B508-422D-B9E8-B6C35203018A}" type="slidenum">
              <a:rPr lang="en-TO" smtClean="0"/>
              <a:t>‹#›</a:t>
            </a:fld>
            <a:endParaRPr lang="en-TO"/>
          </a:p>
        </p:txBody>
      </p:sp>
    </p:spTree>
    <p:extLst>
      <p:ext uri="{BB962C8B-B14F-4D97-AF65-F5344CB8AC3E}">
        <p14:creationId xmlns:p14="http://schemas.microsoft.com/office/powerpoint/2010/main" val="1132286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35B88A72-0929-4CFE-999D-48DFD199A9D7}" type="datetimeFigureOut">
              <a:rPr lang="en-TO" smtClean="0"/>
              <a:t>21/12/2025</a:t>
            </a:fld>
            <a:endParaRPr lang="en-TO"/>
          </a:p>
        </p:txBody>
      </p:sp>
      <p:sp>
        <p:nvSpPr>
          <p:cNvPr id="8" name="Footer Placeholder 7"/>
          <p:cNvSpPr>
            <a:spLocks noGrp="1"/>
          </p:cNvSpPr>
          <p:nvPr>
            <p:ph type="ftr" sz="quarter" idx="11"/>
          </p:nvPr>
        </p:nvSpPr>
        <p:spPr/>
        <p:txBody>
          <a:bodyPr/>
          <a:lstStyle/>
          <a:p>
            <a:endParaRPr lang="en-TO"/>
          </a:p>
        </p:txBody>
      </p:sp>
      <p:sp>
        <p:nvSpPr>
          <p:cNvPr id="9" name="Slide Number Placeholder 8"/>
          <p:cNvSpPr>
            <a:spLocks noGrp="1"/>
          </p:cNvSpPr>
          <p:nvPr>
            <p:ph type="sldNum" sz="quarter" idx="12"/>
          </p:nvPr>
        </p:nvSpPr>
        <p:spPr/>
        <p:txBody>
          <a:bodyPr/>
          <a:lstStyle/>
          <a:p>
            <a:fld id="{0EB657A0-B508-422D-B9E8-B6C35203018A}" type="slidenum">
              <a:rPr lang="en-TO" smtClean="0"/>
              <a:t>‹#›</a:t>
            </a:fld>
            <a:endParaRPr lang="en-TO"/>
          </a:p>
        </p:txBody>
      </p:sp>
    </p:spTree>
    <p:extLst>
      <p:ext uri="{BB962C8B-B14F-4D97-AF65-F5344CB8AC3E}">
        <p14:creationId xmlns:p14="http://schemas.microsoft.com/office/powerpoint/2010/main" val="77036274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35B88A72-0929-4CFE-999D-48DFD199A9D7}" type="datetimeFigureOut">
              <a:rPr lang="en-TO" smtClean="0"/>
              <a:t>21/12/2025</a:t>
            </a:fld>
            <a:endParaRPr lang="en-TO"/>
          </a:p>
        </p:txBody>
      </p:sp>
      <p:sp>
        <p:nvSpPr>
          <p:cNvPr id="9" name="Footer Placeholder 8"/>
          <p:cNvSpPr>
            <a:spLocks noGrp="1"/>
          </p:cNvSpPr>
          <p:nvPr>
            <p:ph type="ftr" sz="quarter" idx="11"/>
          </p:nvPr>
        </p:nvSpPr>
        <p:spPr/>
        <p:txBody>
          <a:bodyPr/>
          <a:lstStyle/>
          <a:p>
            <a:endParaRPr lang="en-TO"/>
          </a:p>
        </p:txBody>
      </p:sp>
      <p:sp>
        <p:nvSpPr>
          <p:cNvPr id="10" name="Slide Number Placeholder 9"/>
          <p:cNvSpPr>
            <a:spLocks noGrp="1"/>
          </p:cNvSpPr>
          <p:nvPr>
            <p:ph type="sldNum" sz="quarter" idx="12"/>
          </p:nvPr>
        </p:nvSpPr>
        <p:spPr/>
        <p:txBody>
          <a:bodyPr/>
          <a:lstStyle/>
          <a:p>
            <a:fld id="{0EB657A0-B508-422D-B9E8-B6C35203018A}" type="slidenum">
              <a:rPr lang="en-TO" smtClean="0"/>
              <a:t>‹#›</a:t>
            </a:fld>
            <a:endParaRPr lang="en-TO"/>
          </a:p>
        </p:txBody>
      </p:sp>
    </p:spTree>
    <p:extLst>
      <p:ext uri="{BB962C8B-B14F-4D97-AF65-F5344CB8AC3E}">
        <p14:creationId xmlns:p14="http://schemas.microsoft.com/office/powerpoint/2010/main" val="2142477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35B88A72-0929-4CFE-999D-48DFD199A9D7}" type="datetimeFigureOut">
              <a:rPr lang="en-TO" smtClean="0"/>
              <a:t>21/12/2025</a:t>
            </a:fld>
            <a:endParaRPr lang="en-TO"/>
          </a:p>
        </p:txBody>
      </p:sp>
      <p:sp>
        <p:nvSpPr>
          <p:cNvPr id="8" name="Footer Placeholder 7"/>
          <p:cNvSpPr>
            <a:spLocks noGrp="1"/>
          </p:cNvSpPr>
          <p:nvPr>
            <p:ph type="ftr" sz="quarter" idx="11"/>
          </p:nvPr>
        </p:nvSpPr>
        <p:spPr/>
        <p:txBody>
          <a:bodyPr/>
          <a:lstStyle/>
          <a:p>
            <a:endParaRPr lang="en-TO"/>
          </a:p>
        </p:txBody>
      </p:sp>
      <p:sp>
        <p:nvSpPr>
          <p:cNvPr id="9" name="Slide Number Placeholder 8"/>
          <p:cNvSpPr>
            <a:spLocks noGrp="1"/>
          </p:cNvSpPr>
          <p:nvPr>
            <p:ph type="sldNum" sz="quarter" idx="12"/>
          </p:nvPr>
        </p:nvSpPr>
        <p:spPr/>
        <p:txBody>
          <a:bodyPr/>
          <a:lstStyle/>
          <a:p>
            <a:fld id="{0EB657A0-B508-422D-B9E8-B6C35203018A}" type="slidenum">
              <a:rPr lang="en-TO" smtClean="0"/>
              <a:t>‹#›</a:t>
            </a:fld>
            <a:endParaRPr lang="en-TO"/>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4270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5B88A72-0929-4CFE-999D-48DFD199A9D7}" type="datetimeFigureOut">
              <a:rPr lang="en-TO" smtClean="0"/>
              <a:t>21/12/2025</a:t>
            </a:fld>
            <a:endParaRPr lang="en-TO"/>
          </a:p>
        </p:txBody>
      </p:sp>
      <p:sp>
        <p:nvSpPr>
          <p:cNvPr id="4" name="Footer Placeholder 3"/>
          <p:cNvSpPr>
            <a:spLocks noGrp="1"/>
          </p:cNvSpPr>
          <p:nvPr>
            <p:ph type="ftr" sz="quarter" idx="11"/>
          </p:nvPr>
        </p:nvSpPr>
        <p:spPr/>
        <p:txBody>
          <a:bodyPr/>
          <a:lstStyle/>
          <a:p>
            <a:endParaRPr lang="en-TO"/>
          </a:p>
        </p:txBody>
      </p:sp>
      <p:sp>
        <p:nvSpPr>
          <p:cNvPr id="5" name="Slide Number Placeholder 4"/>
          <p:cNvSpPr>
            <a:spLocks noGrp="1"/>
          </p:cNvSpPr>
          <p:nvPr>
            <p:ph type="sldNum" sz="quarter" idx="12"/>
          </p:nvPr>
        </p:nvSpPr>
        <p:spPr/>
        <p:txBody>
          <a:bodyPr/>
          <a:lstStyle/>
          <a:p>
            <a:fld id="{0EB657A0-B508-422D-B9E8-B6C35203018A}" type="slidenum">
              <a:rPr lang="en-TO" smtClean="0"/>
              <a:t>‹#›</a:t>
            </a:fld>
            <a:endParaRPr lang="en-TO"/>
          </a:p>
        </p:txBody>
      </p:sp>
    </p:spTree>
    <p:extLst>
      <p:ext uri="{BB962C8B-B14F-4D97-AF65-F5344CB8AC3E}">
        <p14:creationId xmlns:p14="http://schemas.microsoft.com/office/powerpoint/2010/main" val="1130476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B88A72-0929-4CFE-999D-48DFD199A9D7}" type="datetimeFigureOut">
              <a:rPr lang="en-TO" smtClean="0"/>
              <a:t>21/12/2025</a:t>
            </a:fld>
            <a:endParaRPr lang="en-TO"/>
          </a:p>
        </p:txBody>
      </p:sp>
      <p:sp>
        <p:nvSpPr>
          <p:cNvPr id="3" name="Footer Placeholder 2"/>
          <p:cNvSpPr>
            <a:spLocks noGrp="1"/>
          </p:cNvSpPr>
          <p:nvPr>
            <p:ph type="ftr" sz="quarter" idx="11"/>
          </p:nvPr>
        </p:nvSpPr>
        <p:spPr/>
        <p:txBody>
          <a:bodyPr/>
          <a:lstStyle/>
          <a:p>
            <a:endParaRPr lang="en-TO"/>
          </a:p>
        </p:txBody>
      </p:sp>
      <p:sp>
        <p:nvSpPr>
          <p:cNvPr id="4" name="Slide Number Placeholder 3"/>
          <p:cNvSpPr>
            <a:spLocks noGrp="1"/>
          </p:cNvSpPr>
          <p:nvPr>
            <p:ph type="sldNum" sz="quarter" idx="12"/>
          </p:nvPr>
        </p:nvSpPr>
        <p:spPr/>
        <p:txBody>
          <a:bodyPr/>
          <a:lstStyle/>
          <a:p>
            <a:fld id="{0EB657A0-B508-422D-B9E8-B6C35203018A}" type="slidenum">
              <a:rPr lang="en-TO" smtClean="0"/>
              <a:t>‹#›</a:t>
            </a:fld>
            <a:endParaRPr lang="en-TO"/>
          </a:p>
        </p:txBody>
      </p:sp>
    </p:spTree>
    <p:extLst>
      <p:ext uri="{BB962C8B-B14F-4D97-AF65-F5344CB8AC3E}">
        <p14:creationId xmlns:p14="http://schemas.microsoft.com/office/powerpoint/2010/main" val="375505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B88A72-0929-4CFE-999D-48DFD199A9D7}" type="datetimeFigureOut">
              <a:rPr lang="en-TO" smtClean="0"/>
              <a:t>21/12/2025</a:t>
            </a:fld>
            <a:endParaRPr lang="en-TO"/>
          </a:p>
        </p:txBody>
      </p:sp>
      <p:sp>
        <p:nvSpPr>
          <p:cNvPr id="6" name="Footer Placeholder 5"/>
          <p:cNvSpPr>
            <a:spLocks noGrp="1"/>
          </p:cNvSpPr>
          <p:nvPr>
            <p:ph type="ftr" sz="quarter" idx="11"/>
          </p:nvPr>
        </p:nvSpPr>
        <p:spPr>
          <a:xfrm>
            <a:off x="804672" y="6236208"/>
            <a:ext cx="5167503" cy="320040"/>
          </a:xfrm>
        </p:spPr>
        <p:txBody>
          <a:bodyPr/>
          <a:lstStyle>
            <a:lvl1pPr>
              <a:defRPr>
                <a:solidFill>
                  <a:srgbClr val="FFFFFF">
                    <a:alpha val="69804"/>
                  </a:srgbClr>
                </a:solidFill>
              </a:defRPr>
            </a:lvl1pPr>
          </a:lstStyle>
          <a:p>
            <a:endParaRPr lang="en-TO"/>
          </a:p>
        </p:txBody>
      </p:sp>
      <p:sp>
        <p:nvSpPr>
          <p:cNvPr id="7" name="Slide Number Placeholder 6"/>
          <p:cNvSpPr>
            <a:spLocks noGrp="1"/>
          </p:cNvSpPr>
          <p:nvPr>
            <p:ph type="sldNum" sz="quarter" idx="12"/>
          </p:nvPr>
        </p:nvSpPr>
        <p:spPr/>
        <p:txBody>
          <a:bodyPr/>
          <a:lstStyle/>
          <a:p>
            <a:fld id="{0EB657A0-B508-422D-B9E8-B6C35203018A}" type="slidenum">
              <a:rPr lang="en-TO" smtClean="0"/>
              <a:t>‹#›</a:t>
            </a:fld>
            <a:endParaRPr lang="en-TO"/>
          </a:p>
        </p:txBody>
      </p:sp>
    </p:spTree>
    <p:extLst>
      <p:ext uri="{BB962C8B-B14F-4D97-AF65-F5344CB8AC3E}">
        <p14:creationId xmlns:p14="http://schemas.microsoft.com/office/powerpoint/2010/main" val="3437406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alpha val="90000"/>
                  </a:srgbClr>
                </a:solidFill>
                <a:effectLst>
                  <a:outerShdw blurRad="50800" dist="38100" dir="2700000" algn="tl" rotWithShape="0">
                    <a:prstClr val="black">
                      <a:alpha val="43000"/>
                    </a:prstClr>
                  </a:outerShdw>
                </a:effectLst>
              </a:defRPr>
            </a:lvl1pPr>
          </a:lstStyle>
          <a:p>
            <a:fld id="{35B88A72-0929-4CFE-999D-48DFD199A9D7}" type="datetimeFigureOut">
              <a:rPr lang="en-TO" smtClean="0"/>
              <a:t>21/12/2025</a:t>
            </a:fld>
            <a:endParaRPr lang="en-TO"/>
          </a:p>
        </p:txBody>
      </p:sp>
      <p:sp>
        <p:nvSpPr>
          <p:cNvPr id="6" name="Footer Placeholder 5"/>
          <p:cNvSpPr>
            <a:spLocks noGrp="1"/>
          </p:cNvSpPr>
          <p:nvPr>
            <p:ph type="ftr" sz="quarter" idx="11"/>
          </p:nvPr>
        </p:nvSpPr>
        <p:spPr>
          <a:xfrm>
            <a:off x="808523" y="6236208"/>
            <a:ext cx="5103729" cy="320040"/>
          </a:xfrm>
        </p:spPr>
        <p:txBody>
          <a:bodyPr/>
          <a:lstStyle>
            <a:lvl1pPr>
              <a:defRPr>
                <a:solidFill>
                  <a:srgbClr val="FFFFFF">
                    <a:alpha val="70000"/>
                  </a:srgbClr>
                </a:solidFill>
              </a:defRPr>
            </a:lvl1pPr>
          </a:lstStyle>
          <a:p>
            <a:endParaRPr lang="en-TO"/>
          </a:p>
        </p:txBody>
      </p:sp>
      <p:sp>
        <p:nvSpPr>
          <p:cNvPr id="7" name="Slide Number Placeholder 6"/>
          <p:cNvSpPr>
            <a:spLocks noGrp="1"/>
          </p:cNvSpPr>
          <p:nvPr>
            <p:ph type="sldNum" sz="quarter" idx="12"/>
          </p:nvPr>
        </p:nvSpPr>
        <p:spPr/>
        <p:txBody>
          <a:bodyPr/>
          <a:lstStyle/>
          <a:p>
            <a:fld id="{0EB657A0-B508-422D-B9E8-B6C35203018A}" type="slidenum">
              <a:rPr lang="en-TO" smtClean="0"/>
              <a:t>‹#›</a:t>
            </a:fld>
            <a:endParaRPr lang="en-TO"/>
          </a:p>
        </p:txBody>
      </p:sp>
    </p:spTree>
    <p:extLst>
      <p:ext uri="{BB962C8B-B14F-4D97-AF65-F5344CB8AC3E}">
        <p14:creationId xmlns:p14="http://schemas.microsoft.com/office/powerpoint/2010/main" val="2110811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B88A72-0929-4CFE-999D-48DFD199A9D7}" type="datetimeFigureOut">
              <a:rPr lang="en-TO" smtClean="0"/>
              <a:t>21/12/2025</a:t>
            </a:fld>
            <a:endParaRPr lang="en-TO"/>
          </a:p>
        </p:txBody>
      </p:sp>
      <p:sp>
        <p:nvSpPr>
          <p:cNvPr id="5" name="Footer Placeholder 4"/>
          <p:cNvSpPr>
            <a:spLocks noGrp="1"/>
          </p:cNvSpPr>
          <p:nvPr>
            <p:ph type="ftr" sz="quarter" idx="11"/>
          </p:nvPr>
        </p:nvSpPr>
        <p:spPr/>
        <p:txBody>
          <a:bodyPr/>
          <a:lstStyle/>
          <a:p>
            <a:endParaRPr lang="en-TO"/>
          </a:p>
        </p:txBody>
      </p:sp>
      <p:sp>
        <p:nvSpPr>
          <p:cNvPr id="6" name="Slide Number Placeholder 5"/>
          <p:cNvSpPr>
            <a:spLocks noGrp="1"/>
          </p:cNvSpPr>
          <p:nvPr>
            <p:ph type="sldNum" sz="quarter" idx="12"/>
          </p:nvPr>
        </p:nvSpPr>
        <p:spPr/>
        <p:txBody>
          <a:bodyPr/>
          <a:lstStyle/>
          <a:p>
            <a:fld id="{0EB657A0-B508-422D-B9E8-B6C35203018A}" type="slidenum">
              <a:rPr lang="en-TO" smtClean="0"/>
              <a:t>‹#›</a:t>
            </a:fld>
            <a:endParaRPr lang="en-TO"/>
          </a:p>
        </p:txBody>
      </p:sp>
    </p:spTree>
    <p:extLst>
      <p:ext uri="{BB962C8B-B14F-4D97-AF65-F5344CB8AC3E}">
        <p14:creationId xmlns:p14="http://schemas.microsoft.com/office/powerpoint/2010/main" val="1556741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B88A72-0929-4CFE-999D-48DFD199A9D7}" type="datetimeFigureOut">
              <a:rPr lang="en-TO" smtClean="0"/>
              <a:t>21/12/2025</a:t>
            </a:fld>
            <a:endParaRPr lang="en-TO"/>
          </a:p>
        </p:txBody>
      </p:sp>
      <p:sp>
        <p:nvSpPr>
          <p:cNvPr id="5" name="Footer Placeholder 4"/>
          <p:cNvSpPr>
            <a:spLocks noGrp="1"/>
          </p:cNvSpPr>
          <p:nvPr>
            <p:ph type="ftr" sz="quarter" idx="11"/>
          </p:nvPr>
        </p:nvSpPr>
        <p:spPr/>
        <p:txBody>
          <a:bodyPr/>
          <a:lstStyle/>
          <a:p>
            <a:endParaRPr lang="en-TO"/>
          </a:p>
        </p:txBody>
      </p:sp>
      <p:sp>
        <p:nvSpPr>
          <p:cNvPr id="6" name="Slide Number Placeholder 5"/>
          <p:cNvSpPr>
            <a:spLocks noGrp="1"/>
          </p:cNvSpPr>
          <p:nvPr>
            <p:ph type="sldNum" sz="quarter" idx="12"/>
          </p:nvPr>
        </p:nvSpPr>
        <p:spPr/>
        <p:txBody>
          <a:bodyPr/>
          <a:lstStyle/>
          <a:p>
            <a:fld id="{0EB657A0-B508-422D-B9E8-B6C35203018A}" type="slidenum">
              <a:rPr lang="en-TO" smtClean="0"/>
              <a:t>‹#›</a:t>
            </a:fld>
            <a:endParaRPr lang="en-TO"/>
          </a:p>
        </p:txBody>
      </p:sp>
    </p:spTree>
    <p:extLst>
      <p:ext uri="{BB962C8B-B14F-4D97-AF65-F5344CB8AC3E}">
        <p14:creationId xmlns:p14="http://schemas.microsoft.com/office/powerpoint/2010/main" val="3678549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31136" y="964692"/>
            <a:ext cx="7729728" cy="118872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35B88A72-0929-4CFE-999D-48DFD199A9D7}" type="datetimeFigureOut">
              <a:rPr lang="en-TO" smtClean="0"/>
              <a:t>21/12/2025</a:t>
            </a:fld>
            <a:endParaRPr lang="en-TO"/>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TO"/>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0EB657A0-B508-422D-B9E8-B6C35203018A}" type="slidenum">
              <a:rPr lang="en-TO" smtClean="0"/>
              <a:t>‹#›</a:t>
            </a:fld>
            <a:endParaRPr lang="en-TO"/>
          </a:p>
        </p:txBody>
      </p:sp>
    </p:spTree>
    <p:extLst>
      <p:ext uri="{BB962C8B-B14F-4D97-AF65-F5344CB8AC3E}">
        <p14:creationId xmlns:p14="http://schemas.microsoft.com/office/powerpoint/2010/main" val="38613080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21C76E9-6BDE-61C6-B2C1-866349A520DE}"/>
              </a:ext>
            </a:extLst>
          </p:cNvPr>
          <p:cNvSpPr txBox="1"/>
          <p:nvPr/>
        </p:nvSpPr>
        <p:spPr>
          <a:xfrm>
            <a:off x="4157134" y="1329266"/>
            <a:ext cx="3437467" cy="369332"/>
          </a:xfrm>
          <a:prstGeom prst="rect">
            <a:avLst/>
          </a:prstGeom>
          <a:noFill/>
          <a:ln>
            <a:solidFill>
              <a:schemeClr val="tx1"/>
            </a:solidFill>
          </a:ln>
        </p:spPr>
        <p:txBody>
          <a:bodyPr wrap="square" rtlCol="0">
            <a:spAutoFit/>
          </a:bodyPr>
          <a:lstStyle/>
          <a:p>
            <a:pPr algn="ctr"/>
            <a:r>
              <a:rPr lang="en-US" dirty="0"/>
              <a:t>Principles of the </a:t>
            </a:r>
            <a:r>
              <a:rPr lang="en-US" b="1" dirty="0"/>
              <a:t>Baha’i Faith</a:t>
            </a:r>
            <a:endParaRPr lang="en-TO" dirty="0"/>
          </a:p>
        </p:txBody>
      </p:sp>
      <p:sp>
        <p:nvSpPr>
          <p:cNvPr id="5" name="TextBox 4">
            <a:extLst>
              <a:ext uri="{FF2B5EF4-FFF2-40B4-BE49-F238E27FC236}">
                <a16:creationId xmlns:a16="http://schemas.microsoft.com/office/drawing/2014/main" id="{A2B50EF7-98A6-0968-7581-274C5B512D39}"/>
              </a:ext>
            </a:extLst>
          </p:cNvPr>
          <p:cNvSpPr txBox="1"/>
          <p:nvPr/>
        </p:nvSpPr>
        <p:spPr>
          <a:xfrm>
            <a:off x="3382434" y="1888067"/>
            <a:ext cx="4953000" cy="2862322"/>
          </a:xfrm>
          <a:prstGeom prst="rect">
            <a:avLst/>
          </a:prstGeom>
          <a:noFill/>
        </p:spPr>
        <p:txBody>
          <a:bodyPr wrap="square" rtlCol="0">
            <a:spAutoFit/>
          </a:bodyPr>
          <a:lstStyle/>
          <a:p>
            <a:pPr marL="285750" indent="-285750" algn="ctr">
              <a:buFont typeface="Arial" panose="020B0604020202020204" pitchFamily="34" charset="0"/>
              <a:buChar char="•"/>
            </a:pPr>
            <a:r>
              <a:rPr lang="en-US" dirty="0"/>
              <a:t>Oneness of mankind</a:t>
            </a:r>
          </a:p>
          <a:p>
            <a:pPr marL="285750" indent="-285750" algn="ctr">
              <a:buFont typeface="Arial" panose="020B0604020202020204" pitchFamily="34" charset="0"/>
              <a:buChar char="•"/>
            </a:pPr>
            <a:r>
              <a:rPr lang="en-US" dirty="0"/>
              <a:t>Universal peace upheld by a world government</a:t>
            </a:r>
          </a:p>
          <a:p>
            <a:pPr marL="285750" indent="-285750" algn="ctr">
              <a:buFont typeface="Arial" panose="020B0604020202020204" pitchFamily="34" charset="0"/>
              <a:buChar char="•"/>
            </a:pPr>
            <a:r>
              <a:rPr lang="en-US" dirty="0"/>
              <a:t>Independent investigation of truth </a:t>
            </a:r>
          </a:p>
          <a:p>
            <a:pPr marL="285750" indent="-285750" algn="ctr">
              <a:buFont typeface="Arial" panose="020B0604020202020204" pitchFamily="34" charset="0"/>
              <a:buChar char="•"/>
            </a:pPr>
            <a:r>
              <a:rPr lang="en-US" dirty="0"/>
              <a:t>Common foundation of all religions</a:t>
            </a:r>
          </a:p>
          <a:p>
            <a:pPr marL="285750" indent="-285750" algn="ctr">
              <a:buFont typeface="Arial" panose="020B0604020202020204" pitchFamily="34" charset="0"/>
              <a:buChar char="•"/>
            </a:pPr>
            <a:r>
              <a:rPr lang="en-US" dirty="0"/>
              <a:t>Harmony of science and religion</a:t>
            </a:r>
          </a:p>
          <a:p>
            <a:pPr marL="285750" indent="-285750" algn="ctr">
              <a:buFont typeface="Arial" panose="020B0604020202020204" pitchFamily="34" charset="0"/>
              <a:buChar char="•"/>
            </a:pPr>
            <a:r>
              <a:rPr lang="en-US" dirty="0"/>
              <a:t>Equality of men and women</a:t>
            </a:r>
          </a:p>
          <a:p>
            <a:pPr marL="285750" indent="-285750" algn="ctr">
              <a:buFont typeface="Arial" panose="020B0604020202020204" pitchFamily="34" charset="0"/>
              <a:buChar char="•"/>
            </a:pPr>
            <a:r>
              <a:rPr lang="en-US" dirty="0"/>
              <a:t>Elimination of prejudice of all kinds</a:t>
            </a:r>
          </a:p>
          <a:p>
            <a:pPr marL="285750" indent="-285750" algn="ctr">
              <a:buFont typeface="Arial" panose="020B0604020202020204" pitchFamily="34" charset="0"/>
              <a:buChar char="•"/>
            </a:pPr>
            <a:r>
              <a:rPr lang="en-US" dirty="0"/>
              <a:t>Universal compulsory education</a:t>
            </a:r>
          </a:p>
          <a:p>
            <a:pPr marL="285750" indent="-285750" algn="ctr">
              <a:buFont typeface="Arial" panose="020B0604020202020204" pitchFamily="34" charset="0"/>
              <a:buChar char="•"/>
            </a:pPr>
            <a:r>
              <a:rPr lang="en-US" dirty="0">
                <a:solidFill>
                  <a:srgbClr val="C00000"/>
                </a:solidFill>
              </a:rPr>
              <a:t>A spiritual solution to economic problems</a:t>
            </a:r>
          </a:p>
          <a:p>
            <a:pPr marL="285750" indent="-285750" algn="ctr">
              <a:buFont typeface="Arial" panose="020B0604020202020204" pitchFamily="34" charset="0"/>
              <a:buChar char="•"/>
            </a:pPr>
            <a:r>
              <a:rPr lang="en-US" dirty="0"/>
              <a:t>A universal auxiliary language</a:t>
            </a:r>
            <a:endParaRPr lang="en-TO" dirty="0"/>
          </a:p>
        </p:txBody>
      </p:sp>
      <p:sp>
        <p:nvSpPr>
          <p:cNvPr id="6" name="Frame 5">
            <a:extLst>
              <a:ext uri="{FF2B5EF4-FFF2-40B4-BE49-F238E27FC236}">
                <a16:creationId xmlns:a16="http://schemas.microsoft.com/office/drawing/2014/main" id="{EB8EF137-A539-6D10-0117-081F1F02AD3D}"/>
              </a:ext>
            </a:extLst>
          </p:cNvPr>
          <p:cNvSpPr/>
          <p:nvPr/>
        </p:nvSpPr>
        <p:spPr>
          <a:xfrm>
            <a:off x="491068" y="414870"/>
            <a:ext cx="11074400" cy="5799667"/>
          </a:xfrm>
          <a:prstGeom prst="frame">
            <a:avLst/>
          </a:prstGeom>
          <a:solidFill>
            <a:srgbClr val="FFFFFF">
              <a:alpha val="20000"/>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O">
              <a:solidFill>
                <a:schemeClr val="tx1"/>
              </a:solidFill>
            </a:endParaRPr>
          </a:p>
        </p:txBody>
      </p:sp>
    </p:spTree>
    <p:extLst>
      <p:ext uri="{BB962C8B-B14F-4D97-AF65-F5344CB8AC3E}">
        <p14:creationId xmlns:p14="http://schemas.microsoft.com/office/powerpoint/2010/main" val="219277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38D99-5773-12B8-E670-ED3F3ABCBB6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260F636-E696-B63C-D440-D42BB8AA1137}"/>
              </a:ext>
            </a:extLst>
          </p:cNvPr>
          <p:cNvSpPr txBox="1"/>
          <p:nvPr/>
        </p:nvSpPr>
        <p:spPr>
          <a:xfrm>
            <a:off x="4157134" y="1329266"/>
            <a:ext cx="3437467" cy="369332"/>
          </a:xfrm>
          <a:prstGeom prst="rect">
            <a:avLst/>
          </a:prstGeom>
          <a:noFill/>
          <a:ln>
            <a:solidFill>
              <a:schemeClr val="tx1"/>
            </a:solidFill>
          </a:ln>
        </p:spPr>
        <p:txBody>
          <a:bodyPr wrap="square" rtlCol="0">
            <a:spAutoFit/>
          </a:bodyPr>
          <a:lstStyle/>
          <a:p>
            <a:pPr algn="ctr"/>
            <a:r>
              <a:rPr lang="en-US" dirty="0"/>
              <a:t>Principles of the </a:t>
            </a:r>
            <a:r>
              <a:rPr lang="en-US" b="1" dirty="0"/>
              <a:t>Baha’i Faith</a:t>
            </a:r>
            <a:endParaRPr lang="en-TO" dirty="0"/>
          </a:p>
        </p:txBody>
      </p:sp>
      <p:sp>
        <p:nvSpPr>
          <p:cNvPr id="5" name="TextBox 4">
            <a:extLst>
              <a:ext uri="{FF2B5EF4-FFF2-40B4-BE49-F238E27FC236}">
                <a16:creationId xmlns:a16="http://schemas.microsoft.com/office/drawing/2014/main" id="{DA6E24DC-A702-B4DD-7CF1-92BBB3569188}"/>
              </a:ext>
            </a:extLst>
          </p:cNvPr>
          <p:cNvSpPr txBox="1"/>
          <p:nvPr/>
        </p:nvSpPr>
        <p:spPr>
          <a:xfrm>
            <a:off x="3399367" y="2598003"/>
            <a:ext cx="4953000" cy="830997"/>
          </a:xfrm>
          <a:prstGeom prst="rect">
            <a:avLst/>
          </a:prstGeom>
          <a:noFill/>
        </p:spPr>
        <p:txBody>
          <a:bodyPr wrap="square" rtlCol="0">
            <a:spAutoFit/>
          </a:bodyPr>
          <a:lstStyle/>
          <a:p>
            <a:pPr algn="ctr"/>
            <a:r>
              <a:rPr lang="en-US" sz="2400" dirty="0"/>
              <a:t>Is spirituality a solution for economic problems?</a:t>
            </a:r>
            <a:endParaRPr lang="en-TO" sz="2400" dirty="0"/>
          </a:p>
        </p:txBody>
      </p:sp>
      <p:sp>
        <p:nvSpPr>
          <p:cNvPr id="6" name="Frame 5">
            <a:extLst>
              <a:ext uri="{FF2B5EF4-FFF2-40B4-BE49-F238E27FC236}">
                <a16:creationId xmlns:a16="http://schemas.microsoft.com/office/drawing/2014/main" id="{93CA8F24-322C-C4DD-53D2-7B144F8E1EF2}"/>
              </a:ext>
            </a:extLst>
          </p:cNvPr>
          <p:cNvSpPr/>
          <p:nvPr/>
        </p:nvSpPr>
        <p:spPr>
          <a:xfrm>
            <a:off x="491068" y="414870"/>
            <a:ext cx="11074400" cy="5799667"/>
          </a:xfrm>
          <a:prstGeom prst="frame">
            <a:avLst/>
          </a:prstGeom>
          <a:solidFill>
            <a:srgbClr val="FFFFFF">
              <a:alpha val="20000"/>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O">
              <a:solidFill>
                <a:schemeClr val="tx1"/>
              </a:solidFill>
            </a:endParaRPr>
          </a:p>
        </p:txBody>
      </p:sp>
    </p:spTree>
    <p:extLst>
      <p:ext uri="{BB962C8B-B14F-4D97-AF65-F5344CB8AC3E}">
        <p14:creationId xmlns:p14="http://schemas.microsoft.com/office/powerpoint/2010/main" val="3240520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1F907-4256-070E-34BE-1CD2DB73567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798AF0B-DA8C-6DD4-DB49-4EBCAE396FFB}"/>
              </a:ext>
            </a:extLst>
          </p:cNvPr>
          <p:cNvSpPr txBox="1"/>
          <p:nvPr/>
        </p:nvSpPr>
        <p:spPr>
          <a:xfrm>
            <a:off x="3865034" y="458797"/>
            <a:ext cx="3437467" cy="369332"/>
          </a:xfrm>
          <a:prstGeom prst="rect">
            <a:avLst/>
          </a:prstGeom>
          <a:noFill/>
          <a:ln>
            <a:solidFill>
              <a:schemeClr val="tx1"/>
            </a:solidFill>
          </a:ln>
        </p:spPr>
        <p:txBody>
          <a:bodyPr wrap="square" rtlCol="0">
            <a:spAutoFit/>
          </a:bodyPr>
          <a:lstStyle/>
          <a:p>
            <a:pPr algn="ctr"/>
            <a:r>
              <a:rPr lang="en-US" b="1" dirty="0"/>
              <a:t>Some background theory</a:t>
            </a:r>
            <a:endParaRPr lang="en-TO" b="1" dirty="0"/>
          </a:p>
        </p:txBody>
      </p:sp>
      <p:sp>
        <p:nvSpPr>
          <p:cNvPr id="6" name="Frame 5">
            <a:extLst>
              <a:ext uri="{FF2B5EF4-FFF2-40B4-BE49-F238E27FC236}">
                <a16:creationId xmlns:a16="http://schemas.microsoft.com/office/drawing/2014/main" id="{5B480F2F-E484-BCFF-A159-6232451693A1}"/>
              </a:ext>
            </a:extLst>
          </p:cNvPr>
          <p:cNvSpPr/>
          <p:nvPr/>
        </p:nvSpPr>
        <p:spPr>
          <a:xfrm>
            <a:off x="491068" y="414870"/>
            <a:ext cx="11074400" cy="5799667"/>
          </a:xfrm>
          <a:prstGeom prst="frame">
            <a:avLst/>
          </a:prstGeom>
          <a:solidFill>
            <a:srgbClr val="FFFFFF">
              <a:alpha val="20000"/>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O">
              <a:solidFill>
                <a:schemeClr val="tx1"/>
              </a:solidFill>
            </a:endParaRPr>
          </a:p>
        </p:txBody>
      </p:sp>
      <p:pic>
        <p:nvPicPr>
          <p:cNvPr id="3" name="Picture 2">
            <a:extLst>
              <a:ext uri="{FF2B5EF4-FFF2-40B4-BE49-F238E27FC236}">
                <a16:creationId xmlns:a16="http://schemas.microsoft.com/office/drawing/2014/main" id="{81E7C143-214B-1D2F-B0B5-D2B9A54D20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6198" y="1834787"/>
            <a:ext cx="3086803" cy="3188426"/>
          </a:xfrm>
          <a:prstGeom prst="rect">
            <a:avLst/>
          </a:prstGeom>
        </p:spPr>
      </p:pic>
      <p:sp>
        <p:nvSpPr>
          <p:cNvPr id="2" name="TextBox 1">
            <a:extLst>
              <a:ext uri="{FF2B5EF4-FFF2-40B4-BE49-F238E27FC236}">
                <a16:creationId xmlns:a16="http://schemas.microsoft.com/office/drawing/2014/main" id="{E85BD2AB-BDF2-F88C-D59B-FA32E4EA93B9}"/>
              </a:ext>
            </a:extLst>
          </p:cNvPr>
          <p:cNvSpPr txBox="1"/>
          <p:nvPr/>
        </p:nvSpPr>
        <p:spPr>
          <a:xfrm>
            <a:off x="5583767" y="1943100"/>
            <a:ext cx="4665133" cy="1477328"/>
          </a:xfrm>
          <a:prstGeom prst="rect">
            <a:avLst/>
          </a:prstGeom>
          <a:noFill/>
        </p:spPr>
        <p:txBody>
          <a:bodyPr wrap="square" rtlCol="0">
            <a:spAutoFit/>
          </a:bodyPr>
          <a:lstStyle/>
          <a:p>
            <a:r>
              <a:rPr lang="en-US" dirty="0"/>
              <a:t>Two main concepts:</a:t>
            </a:r>
          </a:p>
          <a:p>
            <a:endParaRPr lang="en-US" dirty="0"/>
          </a:p>
          <a:p>
            <a:pPr marL="342900" indent="-342900">
              <a:buFont typeface="+mj-lt"/>
              <a:buAutoNum type="arabicPeriod"/>
            </a:pPr>
            <a:r>
              <a:rPr lang="en-US" dirty="0"/>
              <a:t>The invisible hand (Self interest)</a:t>
            </a:r>
          </a:p>
          <a:p>
            <a:pPr marL="342900" indent="-342900">
              <a:buFont typeface="+mj-lt"/>
              <a:buAutoNum type="arabicPeriod"/>
            </a:pPr>
            <a:r>
              <a:rPr lang="en-US" dirty="0"/>
              <a:t>Free market economy (No government intervention)</a:t>
            </a:r>
            <a:endParaRPr lang="en-TO" dirty="0"/>
          </a:p>
        </p:txBody>
      </p:sp>
    </p:spTree>
    <p:extLst>
      <p:ext uri="{BB962C8B-B14F-4D97-AF65-F5344CB8AC3E}">
        <p14:creationId xmlns:p14="http://schemas.microsoft.com/office/powerpoint/2010/main" val="1013976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22F27-C20D-308D-F4C2-4B7B3AC329BA}"/>
            </a:ext>
          </a:extLst>
        </p:cNvPr>
        <p:cNvGrpSpPr/>
        <p:nvPr/>
      </p:nvGrpSpPr>
      <p:grpSpPr>
        <a:xfrm>
          <a:off x="0" y="0"/>
          <a:ext cx="0" cy="0"/>
          <a:chOff x="0" y="0"/>
          <a:chExt cx="0" cy="0"/>
        </a:xfrm>
      </p:grpSpPr>
      <p:sp>
        <p:nvSpPr>
          <p:cNvPr id="3" name="Freeform: Shape 2">
            <a:extLst>
              <a:ext uri="{FF2B5EF4-FFF2-40B4-BE49-F238E27FC236}">
                <a16:creationId xmlns:a16="http://schemas.microsoft.com/office/drawing/2014/main" id="{73D93595-8696-BB58-3909-D3B8C198306D}"/>
              </a:ext>
            </a:extLst>
          </p:cNvPr>
          <p:cNvSpPr/>
          <p:nvPr/>
        </p:nvSpPr>
        <p:spPr>
          <a:xfrm>
            <a:off x="218319" y="139487"/>
            <a:ext cx="11755361" cy="6579025"/>
          </a:xfrm>
          <a:custGeom>
            <a:avLst/>
            <a:gdLst>
              <a:gd name="csX0" fmla="*/ 484414 w 11755361"/>
              <a:gd name="csY0" fmla="*/ 351580 h 6579025"/>
              <a:gd name="csX1" fmla="*/ 484414 w 11755361"/>
              <a:gd name="csY1" fmla="*/ 6303646 h 6579025"/>
              <a:gd name="csX2" fmla="*/ 11279414 w 11755361"/>
              <a:gd name="csY2" fmla="*/ 6303646 h 6579025"/>
              <a:gd name="csX3" fmla="*/ 11279414 w 11755361"/>
              <a:gd name="csY3" fmla="*/ 351580 h 6579025"/>
              <a:gd name="csX4" fmla="*/ 0 w 11755361"/>
              <a:gd name="csY4" fmla="*/ 0 h 6579025"/>
              <a:gd name="csX5" fmla="*/ 11755361 w 11755361"/>
              <a:gd name="csY5" fmla="*/ 0 h 6579025"/>
              <a:gd name="csX6" fmla="*/ 11755361 w 11755361"/>
              <a:gd name="csY6" fmla="*/ 6579025 h 6579025"/>
              <a:gd name="csX7" fmla="*/ 0 w 11755361"/>
              <a:gd name="csY7" fmla="*/ 6579025 h 6579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1755361" h="6579025">
                <a:moveTo>
                  <a:pt x="484414" y="351580"/>
                </a:moveTo>
                <a:lnTo>
                  <a:pt x="484414" y="6303646"/>
                </a:lnTo>
                <a:lnTo>
                  <a:pt x="11279414" y="6303646"/>
                </a:lnTo>
                <a:lnTo>
                  <a:pt x="11279414" y="351580"/>
                </a:lnTo>
                <a:close/>
                <a:moveTo>
                  <a:pt x="0" y="0"/>
                </a:moveTo>
                <a:lnTo>
                  <a:pt x="11755361" y="0"/>
                </a:lnTo>
                <a:lnTo>
                  <a:pt x="11755361" y="6579025"/>
                </a:lnTo>
                <a:lnTo>
                  <a:pt x="0" y="6579025"/>
                </a:lnTo>
                <a:close/>
              </a:path>
            </a:pathLst>
          </a:custGeom>
          <a:solidFill>
            <a:srgbClr val="FFFFFF">
              <a:alpha val="20000"/>
            </a:srgbClr>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endParaRPr lang="en-TO">
              <a:solidFill>
                <a:schemeClr val="tx1"/>
              </a:solidFill>
            </a:endParaRPr>
          </a:p>
        </p:txBody>
      </p:sp>
      <p:sp>
        <p:nvSpPr>
          <p:cNvPr id="7" name="TextBox 6">
            <a:extLst>
              <a:ext uri="{FF2B5EF4-FFF2-40B4-BE49-F238E27FC236}">
                <a16:creationId xmlns:a16="http://schemas.microsoft.com/office/drawing/2014/main" id="{51884A09-A693-4003-F069-3395F30B7252}"/>
              </a:ext>
            </a:extLst>
          </p:cNvPr>
          <p:cNvSpPr txBox="1"/>
          <p:nvPr/>
        </p:nvSpPr>
        <p:spPr>
          <a:xfrm>
            <a:off x="3069168" y="1031670"/>
            <a:ext cx="4953000" cy="461665"/>
          </a:xfrm>
          <a:prstGeom prst="rect">
            <a:avLst/>
          </a:prstGeom>
          <a:noFill/>
        </p:spPr>
        <p:txBody>
          <a:bodyPr wrap="square" rtlCol="0">
            <a:spAutoFit/>
          </a:bodyPr>
          <a:lstStyle/>
          <a:p>
            <a:pPr algn="ctr"/>
            <a:r>
              <a:rPr lang="en-US" sz="2400" dirty="0"/>
              <a:t>Poorest country in the world by GDP:</a:t>
            </a:r>
            <a:endParaRPr lang="en-TO" sz="2400" dirty="0"/>
          </a:p>
        </p:txBody>
      </p:sp>
      <p:sp>
        <p:nvSpPr>
          <p:cNvPr id="8" name="TextBox 7">
            <a:extLst>
              <a:ext uri="{FF2B5EF4-FFF2-40B4-BE49-F238E27FC236}">
                <a16:creationId xmlns:a16="http://schemas.microsoft.com/office/drawing/2014/main" id="{BEA24373-A80B-EE79-0EEC-EE6F34659C8A}"/>
              </a:ext>
            </a:extLst>
          </p:cNvPr>
          <p:cNvSpPr txBox="1"/>
          <p:nvPr/>
        </p:nvSpPr>
        <p:spPr>
          <a:xfrm>
            <a:off x="1291170" y="2385518"/>
            <a:ext cx="9681632" cy="1015663"/>
          </a:xfrm>
          <a:prstGeom prst="rect">
            <a:avLst/>
          </a:prstGeom>
          <a:noFill/>
        </p:spPr>
        <p:txBody>
          <a:bodyPr wrap="square" rtlCol="0">
            <a:spAutoFit/>
          </a:bodyPr>
          <a:lstStyle/>
          <a:p>
            <a:pPr algn="ctr"/>
            <a:r>
              <a:rPr lang="en-US" sz="2000" b="1" dirty="0"/>
              <a:t>Central Republic of Africa – </a:t>
            </a:r>
            <a:r>
              <a:rPr lang="en-US" sz="2000" dirty="0"/>
              <a:t>largely  </a:t>
            </a:r>
            <a:r>
              <a:rPr lang="en-US" sz="2000" dirty="0">
                <a:solidFill>
                  <a:schemeClr val="tx1">
                    <a:lumMod val="95000"/>
                  </a:schemeClr>
                </a:solidFill>
              </a:rPr>
              <a:t>dependent on the export of diamonds, which brings in between 40-55% of the country’s export revenue. However, it is estimated that up to half of those diamonds are sold on the black market – denying government of tax revenue</a:t>
            </a:r>
            <a:endParaRPr lang="en-TO" sz="2000" b="1" dirty="0">
              <a:solidFill>
                <a:schemeClr val="tx1">
                  <a:lumMod val="95000"/>
                </a:schemeClr>
              </a:solidFill>
            </a:endParaRPr>
          </a:p>
        </p:txBody>
      </p:sp>
      <p:sp>
        <p:nvSpPr>
          <p:cNvPr id="9" name="TextBox 8">
            <a:extLst>
              <a:ext uri="{FF2B5EF4-FFF2-40B4-BE49-F238E27FC236}">
                <a16:creationId xmlns:a16="http://schemas.microsoft.com/office/drawing/2014/main" id="{665E86AD-1D0A-B2CF-A11C-AE45F70C9314}"/>
              </a:ext>
            </a:extLst>
          </p:cNvPr>
          <p:cNvSpPr txBox="1"/>
          <p:nvPr/>
        </p:nvSpPr>
        <p:spPr>
          <a:xfrm>
            <a:off x="1374990" y="4044183"/>
            <a:ext cx="9681632" cy="1015663"/>
          </a:xfrm>
          <a:prstGeom prst="rect">
            <a:avLst/>
          </a:prstGeom>
          <a:noFill/>
        </p:spPr>
        <p:txBody>
          <a:bodyPr wrap="square" rtlCol="0">
            <a:spAutoFit/>
          </a:bodyPr>
          <a:lstStyle/>
          <a:p>
            <a:pPr algn="ctr"/>
            <a:r>
              <a:rPr lang="en-US" sz="2000" b="1" dirty="0"/>
              <a:t>$652 per capita per year</a:t>
            </a:r>
          </a:p>
          <a:p>
            <a:pPr algn="ctr"/>
            <a:endParaRPr lang="en-US" sz="2000" b="1" dirty="0">
              <a:solidFill>
                <a:schemeClr val="tx1">
                  <a:lumMod val="95000"/>
                </a:schemeClr>
              </a:solidFill>
            </a:endParaRPr>
          </a:p>
          <a:p>
            <a:pPr algn="ctr"/>
            <a:r>
              <a:rPr lang="en-US" sz="2000" b="1" dirty="0">
                <a:solidFill>
                  <a:schemeClr val="tx1">
                    <a:lumMod val="95000"/>
                  </a:schemeClr>
                </a:solidFill>
              </a:rPr>
              <a:t>Population: 4.7 million</a:t>
            </a:r>
            <a:endParaRPr lang="en-TO" sz="2000" b="1" dirty="0">
              <a:solidFill>
                <a:schemeClr val="tx1">
                  <a:lumMod val="95000"/>
                </a:schemeClr>
              </a:solidFill>
            </a:endParaRPr>
          </a:p>
        </p:txBody>
      </p:sp>
    </p:spTree>
    <p:extLst>
      <p:ext uri="{BB962C8B-B14F-4D97-AF65-F5344CB8AC3E}">
        <p14:creationId xmlns:p14="http://schemas.microsoft.com/office/powerpoint/2010/main" val="3027097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6039E-6A81-5464-AE33-09EDC20EAD05}"/>
            </a:ext>
          </a:extLst>
        </p:cNvPr>
        <p:cNvGrpSpPr/>
        <p:nvPr/>
      </p:nvGrpSpPr>
      <p:grpSpPr>
        <a:xfrm>
          <a:off x="0" y="0"/>
          <a:ext cx="0" cy="0"/>
          <a:chOff x="0" y="0"/>
          <a:chExt cx="0" cy="0"/>
        </a:xfrm>
      </p:grpSpPr>
      <p:sp>
        <p:nvSpPr>
          <p:cNvPr id="3" name="Freeform: Shape 2">
            <a:extLst>
              <a:ext uri="{FF2B5EF4-FFF2-40B4-BE49-F238E27FC236}">
                <a16:creationId xmlns:a16="http://schemas.microsoft.com/office/drawing/2014/main" id="{FD9D6C25-3AC0-85C8-9608-BF1959E7B3F4}"/>
              </a:ext>
            </a:extLst>
          </p:cNvPr>
          <p:cNvSpPr/>
          <p:nvPr/>
        </p:nvSpPr>
        <p:spPr>
          <a:xfrm>
            <a:off x="218319" y="139487"/>
            <a:ext cx="11755361" cy="6579025"/>
          </a:xfrm>
          <a:custGeom>
            <a:avLst/>
            <a:gdLst>
              <a:gd name="csX0" fmla="*/ 484414 w 11755361"/>
              <a:gd name="csY0" fmla="*/ 351580 h 6579025"/>
              <a:gd name="csX1" fmla="*/ 484414 w 11755361"/>
              <a:gd name="csY1" fmla="*/ 6303646 h 6579025"/>
              <a:gd name="csX2" fmla="*/ 11279414 w 11755361"/>
              <a:gd name="csY2" fmla="*/ 6303646 h 6579025"/>
              <a:gd name="csX3" fmla="*/ 11279414 w 11755361"/>
              <a:gd name="csY3" fmla="*/ 351580 h 6579025"/>
              <a:gd name="csX4" fmla="*/ 0 w 11755361"/>
              <a:gd name="csY4" fmla="*/ 0 h 6579025"/>
              <a:gd name="csX5" fmla="*/ 11755361 w 11755361"/>
              <a:gd name="csY5" fmla="*/ 0 h 6579025"/>
              <a:gd name="csX6" fmla="*/ 11755361 w 11755361"/>
              <a:gd name="csY6" fmla="*/ 6579025 h 6579025"/>
              <a:gd name="csX7" fmla="*/ 0 w 11755361"/>
              <a:gd name="csY7" fmla="*/ 6579025 h 6579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1755361" h="6579025">
                <a:moveTo>
                  <a:pt x="484414" y="351580"/>
                </a:moveTo>
                <a:lnTo>
                  <a:pt x="484414" y="6303646"/>
                </a:lnTo>
                <a:lnTo>
                  <a:pt x="11279414" y="6303646"/>
                </a:lnTo>
                <a:lnTo>
                  <a:pt x="11279414" y="351580"/>
                </a:lnTo>
                <a:close/>
                <a:moveTo>
                  <a:pt x="0" y="0"/>
                </a:moveTo>
                <a:lnTo>
                  <a:pt x="11755361" y="0"/>
                </a:lnTo>
                <a:lnTo>
                  <a:pt x="11755361" y="6579025"/>
                </a:lnTo>
                <a:lnTo>
                  <a:pt x="0" y="6579025"/>
                </a:lnTo>
                <a:close/>
              </a:path>
            </a:pathLst>
          </a:custGeom>
          <a:solidFill>
            <a:srgbClr val="FFFFFF">
              <a:alpha val="20000"/>
            </a:srgbClr>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endParaRPr lang="en-TO">
              <a:solidFill>
                <a:schemeClr val="tx1"/>
              </a:solidFill>
            </a:endParaRPr>
          </a:p>
        </p:txBody>
      </p:sp>
      <p:graphicFrame>
        <p:nvGraphicFramePr>
          <p:cNvPr id="2" name="Table 1">
            <a:extLst>
              <a:ext uri="{FF2B5EF4-FFF2-40B4-BE49-F238E27FC236}">
                <a16:creationId xmlns:a16="http://schemas.microsoft.com/office/drawing/2014/main" id="{A9487190-C2DC-9B14-39D5-E5D41E13DD0F}"/>
              </a:ext>
            </a:extLst>
          </p:cNvPr>
          <p:cNvGraphicFramePr>
            <a:graphicFrameLocks noGrp="1"/>
          </p:cNvGraphicFramePr>
          <p:nvPr>
            <p:extLst>
              <p:ext uri="{D42A27DB-BD31-4B8C-83A1-F6EECF244321}">
                <p14:modId xmlns:p14="http://schemas.microsoft.com/office/powerpoint/2010/main" val="2490504382"/>
              </p:ext>
            </p:extLst>
          </p:nvPr>
        </p:nvGraphicFramePr>
        <p:xfrm>
          <a:off x="1540933" y="1332653"/>
          <a:ext cx="3519714" cy="2595880"/>
        </p:xfrm>
        <a:graphic>
          <a:graphicData uri="http://schemas.openxmlformats.org/drawingml/2006/table">
            <a:tbl>
              <a:tblPr firstRow="1" bandRow="1">
                <a:tableStyleId>{073A0DAA-6AF3-43AB-8588-CEC1D06C72B9}</a:tableStyleId>
              </a:tblPr>
              <a:tblGrid>
                <a:gridCol w="1759857">
                  <a:extLst>
                    <a:ext uri="{9D8B030D-6E8A-4147-A177-3AD203B41FA5}">
                      <a16:colId xmlns:a16="http://schemas.microsoft.com/office/drawing/2014/main" val="2538623997"/>
                    </a:ext>
                  </a:extLst>
                </a:gridCol>
                <a:gridCol w="1759857">
                  <a:extLst>
                    <a:ext uri="{9D8B030D-6E8A-4147-A177-3AD203B41FA5}">
                      <a16:colId xmlns:a16="http://schemas.microsoft.com/office/drawing/2014/main" val="277077825"/>
                    </a:ext>
                  </a:extLst>
                </a:gridCol>
              </a:tblGrid>
              <a:tr h="370840">
                <a:tc>
                  <a:txBody>
                    <a:bodyPr/>
                    <a:lstStyle/>
                    <a:p>
                      <a:r>
                        <a:rPr lang="en-US" dirty="0"/>
                        <a:t>Person</a:t>
                      </a:r>
                      <a:endParaRPr lang="en-TO" dirty="0"/>
                    </a:p>
                  </a:txBody>
                  <a:tcPr/>
                </a:tc>
                <a:tc>
                  <a:txBody>
                    <a:bodyPr/>
                    <a:lstStyle/>
                    <a:p>
                      <a:r>
                        <a:rPr lang="en-US" dirty="0"/>
                        <a:t>Income</a:t>
                      </a:r>
                      <a:endParaRPr lang="en-TO" dirty="0"/>
                    </a:p>
                  </a:txBody>
                  <a:tcPr/>
                </a:tc>
                <a:extLst>
                  <a:ext uri="{0D108BD9-81ED-4DB2-BD59-A6C34878D82A}">
                    <a16:rowId xmlns:a16="http://schemas.microsoft.com/office/drawing/2014/main" val="1301132501"/>
                  </a:ext>
                </a:extLst>
              </a:tr>
              <a:tr h="370840">
                <a:tc>
                  <a:txBody>
                    <a:bodyPr/>
                    <a:lstStyle/>
                    <a:p>
                      <a:r>
                        <a:rPr lang="en-US" dirty="0"/>
                        <a:t>1</a:t>
                      </a:r>
                      <a:endParaRPr lang="en-TO" dirty="0"/>
                    </a:p>
                  </a:txBody>
                  <a:tcPr/>
                </a:tc>
                <a:tc>
                  <a:txBody>
                    <a:bodyPr/>
                    <a:lstStyle/>
                    <a:p>
                      <a:r>
                        <a:rPr lang="en-US" dirty="0"/>
                        <a:t>600</a:t>
                      </a:r>
                      <a:endParaRPr lang="en-TO" dirty="0"/>
                    </a:p>
                  </a:txBody>
                  <a:tcPr/>
                </a:tc>
                <a:extLst>
                  <a:ext uri="{0D108BD9-81ED-4DB2-BD59-A6C34878D82A}">
                    <a16:rowId xmlns:a16="http://schemas.microsoft.com/office/drawing/2014/main" val="768225824"/>
                  </a:ext>
                </a:extLst>
              </a:tr>
              <a:tr h="370840">
                <a:tc>
                  <a:txBody>
                    <a:bodyPr/>
                    <a:lstStyle/>
                    <a:p>
                      <a:r>
                        <a:rPr lang="en-US" dirty="0"/>
                        <a:t>2</a:t>
                      </a:r>
                      <a:endParaRPr lang="en-TO" dirty="0"/>
                    </a:p>
                  </a:txBody>
                  <a:tcPr/>
                </a:tc>
                <a:tc>
                  <a:txBody>
                    <a:bodyPr/>
                    <a:lstStyle/>
                    <a:p>
                      <a:r>
                        <a:rPr lang="en-US" dirty="0"/>
                        <a:t>620</a:t>
                      </a:r>
                      <a:endParaRPr lang="en-TO" dirty="0"/>
                    </a:p>
                  </a:txBody>
                  <a:tcPr/>
                </a:tc>
                <a:extLst>
                  <a:ext uri="{0D108BD9-81ED-4DB2-BD59-A6C34878D82A}">
                    <a16:rowId xmlns:a16="http://schemas.microsoft.com/office/drawing/2014/main" val="1961428539"/>
                  </a:ext>
                </a:extLst>
              </a:tr>
              <a:tr h="370840">
                <a:tc>
                  <a:txBody>
                    <a:bodyPr/>
                    <a:lstStyle/>
                    <a:p>
                      <a:r>
                        <a:rPr lang="en-US" dirty="0"/>
                        <a:t>3</a:t>
                      </a:r>
                    </a:p>
                  </a:txBody>
                  <a:tcPr/>
                </a:tc>
                <a:tc>
                  <a:txBody>
                    <a:bodyPr/>
                    <a:lstStyle/>
                    <a:p>
                      <a:r>
                        <a:rPr lang="en-US" dirty="0"/>
                        <a:t>640</a:t>
                      </a:r>
                      <a:endParaRPr lang="en-TO" dirty="0"/>
                    </a:p>
                  </a:txBody>
                  <a:tcPr/>
                </a:tc>
                <a:extLst>
                  <a:ext uri="{0D108BD9-81ED-4DB2-BD59-A6C34878D82A}">
                    <a16:rowId xmlns:a16="http://schemas.microsoft.com/office/drawing/2014/main" val="3542847293"/>
                  </a:ext>
                </a:extLst>
              </a:tr>
              <a:tr h="370840">
                <a:tc>
                  <a:txBody>
                    <a:bodyPr/>
                    <a:lstStyle/>
                    <a:p>
                      <a:r>
                        <a:rPr lang="en-US" dirty="0"/>
                        <a:t>4</a:t>
                      </a:r>
                    </a:p>
                  </a:txBody>
                  <a:tcPr/>
                </a:tc>
                <a:tc>
                  <a:txBody>
                    <a:bodyPr/>
                    <a:lstStyle/>
                    <a:p>
                      <a:r>
                        <a:rPr lang="en-US" dirty="0"/>
                        <a:t>660</a:t>
                      </a:r>
                      <a:endParaRPr lang="en-TO" dirty="0"/>
                    </a:p>
                  </a:txBody>
                  <a:tcPr/>
                </a:tc>
                <a:extLst>
                  <a:ext uri="{0D108BD9-81ED-4DB2-BD59-A6C34878D82A}">
                    <a16:rowId xmlns:a16="http://schemas.microsoft.com/office/drawing/2014/main" val="3409826472"/>
                  </a:ext>
                </a:extLst>
              </a:tr>
              <a:tr h="370840">
                <a:tc>
                  <a:txBody>
                    <a:bodyPr/>
                    <a:lstStyle/>
                    <a:p>
                      <a:r>
                        <a:rPr lang="en-US" dirty="0"/>
                        <a:t>5</a:t>
                      </a:r>
                    </a:p>
                  </a:txBody>
                  <a:tcPr/>
                </a:tc>
                <a:tc>
                  <a:txBody>
                    <a:bodyPr/>
                    <a:lstStyle/>
                    <a:p>
                      <a:r>
                        <a:rPr lang="en-US" dirty="0"/>
                        <a:t>680</a:t>
                      </a:r>
                      <a:endParaRPr lang="en-TO" dirty="0"/>
                    </a:p>
                  </a:txBody>
                  <a:tcPr/>
                </a:tc>
                <a:extLst>
                  <a:ext uri="{0D108BD9-81ED-4DB2-BD59-A6C34878D82A}">
                    <a16:rowId xmlns:a16="http://schemas.microsoft.com/office/drawing/2014/main" val="2176087357"/>
                  </a:ext>
                </a:extLst>
              </a:tr>
              <a:tr h="370840">
                <a:tc>
                  <a:txBody>
                    <a:bodyPr/>
                    <a:lstStyle/>
                    <a:p>
                      <a:r>
                        <a:rPr lang="en-US" dirty="0"/>
                        <a:t>6</a:t>
                      </a:r>
                    </a:p>
                  </a:txBody>
                  <a:tcPr/>
                </a:tc>
                <a:tc>
                  <a:txBody>
                    <a:bodyPr/>
                    <a:lstStyle/>
                    <a:p>
                      <a:r>
                        <a:rPr lang="en-US" dirty="0"/>
                        <a:t>720</a:t>
                      </a:r>
                      <a:endParaRPr lang="en-TO" dirty="0"/>
                    </a:p>
                  </a:txBody>
                  <a:tcPr/>
                </a:tc>
                <a:extLst>
                  <a:ext uri="{0D108BD9-81ED-4DB2-BD59-A6C34878D82A}">
                    <a16:rowId xmlns:a16="http://schemas.microsoft.com/office/drawing/2014/main" val="3002377838"/>
                  </a:ext>
                </a:extLst>
              </a:tr>
            </a:tbl>
          </a:graphicData>
        </a:graphic>
      </p:graphicFrame>
      <p:graphicFrame>
        <p:nvGraphicFramePr>
          <p:cNvPr id="4" name="Table 3">
            <a:extLst>
              <a:ext uri="{FF2B5EF4-FFF2-40B4-BE49-F238E27FC236}">
                <a16:creationId xmlns:a16="http://schemas.microsoft.com/office/drawing/2014/main" id="{0E6FE9E6-0071-C8ED-0D81-E6C6D6623B97}"/>
              </a:ext>
            </a:extLst>
          </p:cNvPr>
          <p:cNvGraphicFramePr>
            <a:graphicFrameLocks noGrp="1"/>
          </p:cNvGraphicFramePr>
          <p:nvPr>
            <p:extLst>
              <p:ext uri="{D42A27DB-BD31-4B8C-83A1-F6EECF244321}">
                <p14:modId xmlns:p14="http://schemas.microsoft.com/office/powerpoint/2010/main" val="4216502923"/>
              </p:ext>
            </p:extLst>
          </p:nvPr>
        </p:nvGraphicFramePr>
        <p:xfrm>
          <a:off x="6883400" y="1332653"/>
          <a:ext cx="3519714" cy="2595880"/>
        </p:xfrm>
        <a:graphic>
          <a:graphicData uri="http://schemas.openxmlformats.org/drawingml/2006/table">
            <a:tbl>
              <a:tblPr firstRow="1" bandRow="1">
                <a:tableStyleId>{073A0DAA-6AF3-43AB-8588-CEC1D06C72B9}</a:tableStyleId>
              </a:tblPr>
              <a:tblGrid>
                <a:gridCol w="1759857">
                  <a:extLst>
                    <a:ext uri="{9D8B030D-6E8A-4147-A177-3AD203B41FA5}">
                      <a16:colId xmlns:a16="http://schemas.microsoft.com/office/drawing/2014/main" val="2538623997"/>
                    </a:ext>
                  </a:extLst>
                </a:gridCol>
                <a:gridCol w="1759857">
                  <a:extLst>
                    <a:ext uri="{9D8B030D-6E8A-4147-A177-3AD203B41FA5}">
                      <a16:colId xmlns:a16="http://schemas.microsoft.com/office/drawing/2014/main" val="277077825"/>
                    </a:ext>
                  </a:extLst>
                </a:gridCol>
              </a:tblGrid>
              <a:tr h="370840">
                <a:tc>
                  <a:txBody>
                    <a:bodyPr/>
                    <a:lstStyle/>
                    <a:p>
                      <a:r>
                        <a:rPr lang="en-US" dirty="0"/>
                        <a:t>Person</a:t>
                      </a:r>
                      <a:endParaRPr lang="en-TO" dirty="0"/>
                    </a:p>
                  </a:txBody>
                  <a:tcPr/>
                </a:tc>
                <a:tc>
                  <a:txBody>
                    <a:bodyPr/>
                    <a:lstStyle/>
                    <a:p>
                      <a:r>
                        <a:rPr lang="en-US" dirty="0"/>
                        <a:t>Income</a:t>
                      </a:r>
                      <a:endParaRPr lang="en-TO" dirty="0"/>
                    </a:p>
                  </a:txBody>
                  <a:tcPr/>
                </a:tc>
                <a:extLst>
                  <a:ext uri="{0D108BD9-81ED-4DB2-BD59-A6C34878D82A}">
                    <a16:rowId xmlns:a16="http://schemas.microsoft.com/office/drawing/2014/main" val="1301132501"/>
                  </a:ext>
                </a:extLst>
              </a:tr>
              <a:tr h="370840">
                <a:tc>
                  <a:txBody>
                    <a:bodyPr/>
                    <a:lstStyle/>
                    <a:p>
                      <a:r>
                        <a:rPr lang="en-US" dirty="0"/>
                        <a:t>1</a:t>
                      </a:r>
                      <a:endParaRPr lang="en-TO" dirty="0"/>
                    </a:p>
                  </a:txBody>
                  <a:tcPr/>
                </a:tc>
                <a:tc>
                  <a:txBody>
                    <a:bodyPr/>
                    <a:lstStyle/>
                    <a:p>
                      <a:r>
                        <a:rPr lang="en-US" dirty="0"/>
                        <a:t>100</a:t>
                      </a:r>
                      <a:endParaRPr lang="en-TO" dirty="0"/>
                    </a:p>
                  </a:txBody>
                  <a:tcPr/>
                </a:tc>
                <a:extLst>
                  <a:ext uri="{0D108BD9-81ED-4DB2-BD59-A6C34878D82A}">
                    <a16:rowId xmlns:a16="http://schemas.microsoft.com/office/drawing/2014/main" val="768225824"/>
                  </a:ext>
                </a:extLst>
              </a:tr>
              <a:tr h="370840">
                <a:tc>
                  <a:txBody>
                    <a:bodyPr/>
                    <a:lstStyle/>
                    <a:p>
                      <a:r>
                        <a:rPr lang="en-US" dirty="0"/>
                        <a:t>2</a:t>
                      </a:r>
                      <a:endParaRPr lang="en-TO" dirty="0"/>
                    </a:p>
                  </a:txBody>
                  <a:tcPr/>
                </a:tc>
                <a:tc>
                  <a:txBody>
                    <a:bodyPr/>
                    <a:lstStyle/>
                    <a:p>
                      <a:r>
                        <a:rPr lang="en-US" dirty="0"/>
                        <a:t>120</a:t>
                      </a:r>
                      <a:endParaRPr lang="en-TO" dirty="0"/>
                    </a:p>
                  </a:txBody>
                  <a:tcPr/>
                </a:tc>
                <a:extLst>
                  <a:ext uri="{0D108BD9-81ED-4DB2-BD59-A6C34878D82A}">
                    <a16:rowId xmlns:a16="http://schemas.microsoft.com/office/drawing/2014/main" val="1961428539"/>
                  </a:ext>
                </a:extLst>
              </a:tr>
              <a:tr h="370840">
                <a:tc>
                  <a:txBody>
                    <a:bodyPr/>
                    <a:lstStyle/>
                    <a:p>
                      <a:r>
                        <a:rPr lang="en-US" dirty="0"/>
                        <a:t>3</a:t>
                      </a:r>
                    </a:p>
                  </a:txBody>
                  <a:tcPr/>
                </a:tc>
                <a:tc>
                  <a:txBody>
                    <a:bodyPr/>
                    <a:lstStyle/>
                    <a:p>
                      <a:r>
                        <a:rPr lang="en-US" dirty="0"/>
                        <a:t>150</a:t>
                      </a:r>
                      <a:endParaRPr lang="en-TO" dirty="0"/>
                    </a:p>
                  </a:txBody>
                  <a:tcPr/>
                </a:tc>
                <a:extLst>
                  <a:ext uri="{0D108BD9-81ED-4DB2-BD59-A6C34878D82A}">
                    <a16:rowId xmlns:a16="http://schemas.microsoft.com/office/drawing/2014/main" val="3542847293"/>
                  </a:ext>
                </a:extLst>
              </a:tr>
              <a:tr h="370840">
                <a:tc>
                  <a:txBody>
                    <a:bodyPr/>
                    <a:lstStyle/>
                    <a:p>
                      <a:r>
                        <a:rPr lang="en-US" dirty="0"/>
                        <a:t>4</a:t>
                      </a:r>
                    </a:p>
                  </a:txBody>
                  <a:tcPr/>
                </a:tc>
                <a:tc>
                  <a:txBody>
                    <a:bodyPr/>
                    <a:lstStyle/>
                    <a:p>
                      <a:r>
                        <a:rPr lang="en-US" dirty="0"/>
                        <a:t>180</a:t>
                      </a:r>
                      <a:endParaRPr lang="en-TO" dirty="0"/>
                    </a:p>
                  </a:txBody>
                  <a:tcPr/>
                </a:tc>
                <a:extLst>
                  <a:ext uri="{0D108BD9-81ED-4DB2-BD59-A6C34878D82A}">
                    <a16:rowId xmlns:a16="http://schemas.microsoft.com/office/drawing/2014/main" val="3409826472"/>
                  </a:ext>
                </a:extLst>
              </a:tr>
              <a:tr h="370840">
                <a:tc>
                  <a:txBody>
                    <a:bodyPr/>
                    <a:lstStyle/>
                    <a:p>
                      <a:r>
                        <a:rPr lang="en-US" dirty="0"/>
                        <a:t>5</a:t>
                      </a:r>
                    </a:p>
                  </a:txBody>
                  <a:tcPr/>
                </a:tc>
                <a:tc>
                  <a:txBody>
                    <a:bodyPr/>
                    <a:lstStyle/>
                    <a:p>
                      <a:r>
                        <a:rPr lang="en-US" dirty="0"/>
                        <a:t>200</a:t>
                      </a:r>
                      <a:endParaRPr lang="en-TO" dirty="0"/>
                    </a:p>
                  </a:txBody>
                  <a:tcPr/>
                </a:tc>
                <a:extLst>
                  <a:ext uri="{0D108BD9-81ED-4DB2-BD59-A6C34878D82A}">
                    <a16:rowId xmlns:a16="http://schemas.microsoft.com/office/drawing/2014/main" val="2176087357"/>
                  </a:ext>
                </a:extLst>
              </a:tr>
              <a:tr h="370840">
                <a:tc>
                  <a:txBody>
                    <a:bodyPr/>
                    <a:lstStyle/>
                    <a:p>
                      <a:r>
                        <a:rPr lang="en-US" dirty="0"/>
                        <a:t>6</a:t>
                      </a:r>
                    </a:p>
                  </a:txBody>
                  <a:tcPr/>
                </a:tc>
                <a:tc>
                  <a:txBody>
                    <a:bodyPr/>
                    <a:lstStyle/>
                    <a:p>
                      <a:r>
                        <a:rPr lang="en-US" dirty="0"/>
                        <a:t>3170</a:t>
                      </a:r>
                      <a:endParaRPr lang="en-TO" dirty="0"/>
                    </a:p>
                  </a:txBody>
                  <a:tcPr/>
                </a:tc>
                <a:extLst>
                  <a:ext uri="{0D108BD9-81ED-4DB2-BD59-A6C34878D82A}">
                    <a16:rowId xmlns:a16="http://schemas.microsoft.com/office/drawing/2014/main" val="3002377838"/>
                  </a:ext>
                </a:extLst>
              </a:tr>
            </a:tbl>
          </a:graphicData>
        </a:graphic>
      </p:graphicFrame>
      <p:sp>
        <p:nvSpPr>
          <p:cNvPr id="5" name="TextBox 4">
            <a:extLst>
              <a:ext uri="{FF2B5EF4-FFF2-40B4-BE49-F238E27FC236}">
                <a16:creationId xmlns:a16="http://schemas.microsoft.com/office/drawing/2014/main" id="{AB201F4D-2D46-4AA2-15C3-44BE86D2A970}"/>
              </a:ext>
            </a:extLst>
          </p:cNvPr>
          <p:cNvSpPr txBox="1"/>
          <p:nvPr/>
        </p:nvSpPr>
        <p:spPr>
          <a:xfrm>
            <a:off x="-1540026" y="781093"/>
            <a:ext cx="9681632" cy="461665"/>
          </a:xfrm>
          <a:prstGeom prst="rect">
            <a:avLst/>
          </a:prstGeom>
          <a:noFill/>
        </p:spPr>
        <p:txBody>
          <a:bodyPr wrap="square" rtlCol="0">
            <a:spAutoFit/>
          </a:bodyPr>
          <a:lstStyle/>
          <a:p>
            <a:pPr algn="ctr"/>
            <a:r>
              <a:rPr lang="en-US" sz="2400" b="1" dirty="0">
                <a:solidFill>
                  <a:schemeClr val="tx1">
                    <a:lumMod val="95000"/>
                  </a:schemeClr>
                </a:solidFill>
              </a:rPr>
              <a:t>Scenario A</a:t>
            </a:r>
            <a:endParaRPr lang="en-TO" sz="2400" b="1" dirty="0">
              <a:solidFill>
                <a:schemeClr val="tx1">
                  <a:lumMod val="95000"/>
                </a:schemeClr>
              </a:solidFill>
            </a:endParaRPr>
          </a:p>
        </p:txBody>
      </p:sp>
      <p:sp>
        <p:nvSpPr>
          <p:cNvPr id="6" name="TextBox 5">
            <a:extLst>
              <a:ext uri="{FF2B5EF4-FFF2-40B4-BE49-F238E27FC236}">
                <a16:creationId xmlns:a16="http://schemas.microsoft.com/office/drawing/2014/main" id="{95BD0D32-53A7-5B78-3267-44C60FA48359}"/>
              </a:ext>
            </a:extLst>
          </p:cNvPr>
          <p:cNvSpPr txBox="1"/>
          <p:nvPr/>
        </p:nvSpPr>
        <p:spPr>
          <a:xfrm>
            <a:off x="3584968" y="810270"/>
            <a:ext cx="9681632" cy="461665"/>
          </a:xfrm>
          <a:prstGeom prst="rect">
            <a:avLst/>
          </a:prstGeom>
          <a:noFill/>
        </p:spPr>
        <p:txBody>
          <a:bodyPr wrap="square" rtlCol="0">
            <a:spAutoFit/>
          </a:bodyPr>
          <a:lstStyle/>
          <a:p>
            <a:pPr algn="ctr"/>
            <a:r>
              <a:rPr lang="en-US" sz="2400" b="1" dirty="0">
                <a:solidFill>
                  <a:schemeClr val="tx1">
                    <a:lumMod val="95000"/>
                  </a:schemeClr>
                </a:solidFill>
              </a:rPr>
              <a:t>Scenario B</a:t>
            </a:r>
            <a:endParaRPr lang="en-TO" sz="2400" b="1" dirty="0">
              <a:solidFill>
                <a:schemeClr val="tx1">
                  <a:lumMod val="95000"/>
                </a:schemeClr>
              </a:solidFill>
            </a:endParaRPr>
          </a:p>
        </p:txBody>
      </p:sp>
      <p:sp>
        <p:nvSpPr>
          <p:cNvPr id="10" name="TextBox 9">
            <a:extLst>
              <a:ext uri="{FF2B5EF4-FFF2-40B4-BE49-F238E27FC236}">
                <a16:creationId xmlns:a16="http://schemas.microsoft.com/office/drawing/2014/main" id="{9CE33B3D-C667-5DD7-B1CA-7A4A6D3949CE}"/>
              </a:ext>
            </a:extLst>
          </p:cNvPr>
          <p:cNvSpPr txBox="1"/>
          <p:nvPr/>
        </p:nvSpPr>
        <p:spPr>
          <a:xfrm>
            <a:off x="1332411" y="4824549"/>
            <a:ext cx="2252557" cy="369332"/>
          </a:xfrm>
          <a:prstGeom prst="rect">
            <a:avLst/>
          </a:prstGeom>
          <a:noFill/>
        </p:spPr>
        <p:txBody>
          <a:bodyPr wrap="square" rtlCol="0">
            <a:spAutoFit/>
          </a:bodyPr>
          <a:lstStyle/>
          <a:p>
            <a:r>
              <a:rPr lang="en-US" dirty="0"/>
              <a:t>Mean income: ____</a:t>
            </a:r>
            <a:endParaRPr lang="en-TO" dirty="0"/>
          </a:p>
        </p:txBody>
      </p:sp>
      <p:sp>
        <p:nvSpPr>
          <p:cNvPr id="11" name="TextBox 10">
            <a:extLst>
              <a:ext uri="{FF2B5EF4-FFF2-40B4-BE49-F238E27FC236}">
                <a16:creationId xmlns:a16="http://schemas.microsoft.com/office/drawing/2014/main" id="{A1697D0C-8137-FB12-A8B9-CC916956A87D}"/>
              </a:ext>
            </a:extLst>
          </p:cNvPr>
          <p:cNvSpPr txBox="1"/>
          <p:nvPr/>
        </p:nvSpPr>
        <p:spPr>
          <a:xfrm>
            <a:off x="6883400" y="4792283"/>
            <a:ext cx="2252557" cy="369332"/>
          </a:xfrm>
          <a:prstGeom prst="rect">
            <a:avLst/>
          </a:prstGeom>
          <a:noFill/>
        </p:spPr>
        <p:txBody>
          <a:bodyPr wrap="square" rtlCol="0">
            <a:spAutoFit/>
          </a:bodyPr>
          <a:lstStyle/>
          <a:p>
            <a:r>
              <a:rPr lang="en-US" dirty="0"/>
              <a:t>Mean income: ____</a:t>
            </a:r>
            <a:endParaRPr lang="en-TO" dirty="0"/>
          </a:p>
        </p:txBody>
      </p:sp>
    </p:spTree>
    <p:extLst>
      <p:ext uri="{BB962C8B-B14F-4D97-AF65-F5344CB8AC3E}">
        <p14:creationId xmlns:p14="http://schemas.microsoft.com/office/powerpoint/2010/main" val="1847897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83CE9-7C85-9E8B-5B53-52BA8E037B08}"/>
            </a:ext>
          </a:extLst>
        </p:cNvPr>
        <p:cNvGrpSpPr/>
        <p:nvPr/>
      </p:nvGrpSpPr>
      <p:grpSpPr>
        <a:xfrm>
          <a:off x="0" y="0"/>
          <a:ext cx="0" cy="0"/>
          <a:chOff x="0" y="0"/>
          <a:chExt cx="0" cy="0"/>
        </a:xfrm>
      </p:grpSpPr>
      <p:sp>
        <p:nvSpPr>
          <p:cNvPr id="3" name="Freeform: Shape 2">
            <a:extLst>
              <a:ext uri="{FF2B5EF4-FFF2-40B4-BE49-F238E27FC236}">
                <a16:creationId xmlns:a16="http://schemas.microsoft.com/office/drawing/2014/main" id="{52D7922A-4875-E096-023A-65A7E7B9507B}"/>
              </a:ext>
            </a:extLst>
          </p:cNvPr>
          <p:cNvSpPr/>
          <p:nvPr/>
        </p:nvSpPr>
        <p:spPr>
          <a:xfrm>
            <a:off x="218319" y="139487"/>
            <a:ext cx="11755361" cy="6579025"/>
          </a:xfrm>
          <a:custGeom>
            <a:avLst/>
            <a:gdLst>
              <a:gd name="csX0" fmla="*/ 484414 w 11755361"/>
              <a:gd name="csY0" fmla="*/ 351580 h 6579025"/>
              <a:gd name="csX1" fmla="*/ 484414 w 11755361"/>
              <a:gd name="csY1" fmla="*/ 6303646 h 6579025"/>
              <a:gd name="csX2" fmla="*/ 11279414 w 11755361"/>
              <a:gd name="csY2" fmla="*/ 6303646 h 6579025"/>
              <a:gd name="csX3" fmla="*/ 11279414 w 11755361"/>
              <a:gd name="csY3" fmla="*/ 351580 h 6579025"/>
              <a:gd name="csX4" fmla="*/ 0 w 11755361"/>
              <a:gd name="csY4" fmla="*/ 0 h 6579025"/>
              <a:gd name="csX5" fmla="*/ 11755361 w 11755361"/>
              <a:gd name="csY5" fmla="*/ 0 h 6579025"/>
              <a:gd name="csX6" fmla="*/ 11755361 w 11755361"/>
              <a:gd name="csY6" fmla="*/ 6579025 h 6579025"/>
              <a:gd name="csX7" fmla="*/ 0 w 11755361"/>
              <a:gd name="csY7" fmla="*/ 6579025 h 6579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1755361" h="6579025">
                <a:moveTo>
                  <a:pt x="484414" y="351580"/>
                </a:moveTo>
                <a:lnTo>
                  <a:pt x="484414" y="6303646"/>
                </a:lnTo>
                <a:lnTo>
                  <a:pt x="11279414" y="6303646"/>
                </a:lnTo>
                <a:lnTo>
                  <a:pt x="11279414" y="351580"/>
                </a:lnTo>
                <a:close/>
                <a:moveTo>
                  <a:pt x="0" y="0"/>
                </a:moveTo>
                <a:lnTo>
                  <a:pt x="11755361" y="0"/>
                </a:lnTo>
                <a:lnTo>
                  <a:pt x="11755361" y="6579025"/>
                </a:lnTo>
                <a:lnTo>
                  <a:pt x="0" y="6579025"/>
                </a:lnTo>
                <a:close/>
              </a:path>
            </a:pathLst>
          </a:custGeom>
          <a:solidFill>
            <a:srgbClr val="FFFFFF">
              <a:alpha val="20000"/>
            </a:srgbClr>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endParaRPr lang="en-TO">
              <a:solidFill>
                <a:schemeClr val="tx1"/>
              </a:solidFill>
            </a:endParaRPr>
          </a:p>
        </p:txBody>
      </p:sp>
      <p:sp>
        <p:nvSpPr>
          <p:cNvPr id="7" name="TextBox 6">
            <a:extLst>
              <a:ext uri="{FF2B5EF4-FFF2-40B4-BE49-F238E27FC236}">
                <a16:creationId xmlns:a16="http://schemas.microsoft.com/office/drawing/2014/main" id="{F623E937-C84B-748E-497F-9218A451F71C}"/>
              </a:ext>
            </a:extLst>
          </p:cNvPr>
          <p:cNvSpPr txBox="1"/>
          <p:nvPr/>
        </p:nvSpPr>
        <p:spPr>
          <a:xfrm>
            <a:off x="3069168" y="1031670"/>
            <a:ext cx="4953000" cy="461665"/>
          </a:xfrm>
          <a:prstGeom prst="rect">
            <a:avLst/>
          </a:prstGeom>
          <a:noFill/>
        </p:spPr>
        <p:txBody>
          <a:bodyPr wrap="square" rtlCol="0">
            <a:spAutoFit/>
          </a:bodyPr>
          <a:lstStyle/>
          <a:p>
            <a:pPr algn="ctr"/>
            <a:r>
              <a:rPr lang="en-US" sz="2400" dirty="0"/>
              <a:t>Richest country in the world by GDP:</a:t>
            </a:r>
            <a:endParaRPr lang="en-TO" sz="2400" dirty="0"/>
          </a:p>
        </p:txBody>
      </p:sp>
      <p:sp>
        <p:nvSpPr>
          <p:cNvPr id="8" name="TextBox 7">
            <a:extLst>
              <a:ext uri="{FF2B5EF4-FFF2-40B4-BE49-F238E27FC236}">
                <a16:creationId xmlns:a16="http://schemas.microsoft.com/office/drawing/2014/main" id="{CC9E9135-5439-5BEE-865F-706D53FFDA1D}"/>
              </a:ext>
            </a:extLst>
          </p:cNvPr>
          <p:cNvSpPr txBox="1"/>
          <p:nvPr/>
        </p:nvSpPr>
        <p:spPr>
          <a:xfrm>
            <a:off x="1255183" y="2614118"/>
            <a:ext cx="9681632" cy="1323439"/>
          </a:xfrm>
          <a:prstGeom prst="rect">
            <a:avLst/>
          </a:prstGeom>
          <a:noFill/>
        </p:spPr>
        <p:txBody>
          <a:bodyPr wrap="square" rtlCol="0">
            <a:spAutoFit/>
          </a:bodyPr>
          <a:lstStyle/>
          <a:p>
            <a:pPr algn="ctr"/>
            <a:r>
              <a:rPr lang="en-US" sz="2000" b="1" dirty="0"/>
              <a:t>United States of America – </a:t>
            </a:r>
            <a:r>
              <a:rPr lang="en-US" sz="2000" dirty="0"/>
              <a:t>reasons behind its success include its larges domestic automotive industry, a technological sector that fosters innovation, and a system of democracy that protects entrepreneurial and intellectual property rights. However, 51 million families in the US can barely afford food or rent. </a:t>
            </a:r>
            <a:endParaRPr lang="en-TO" sz="2000" b="1" dirty="0">
              <a:solidFill>
                <a:schemeClr val="tx1">
                  <a:lumMod val="95000"/>
                </a:schemeClr>
              </a:solidFill>
            </a:endParaRPr>
          </a:p>
        </p:txBody>
      </p:sp>
      <p:sp>
        <p:nvSpPr>
          <p:cNvPr id="9" name="TextBox 8">
            <a:extLst>
              <a:ext uri="{FF2B5EF4-FFF2-40B4-BE49-F238E27FC236}">
                <a16:creationId xmlns:a16="http://schemas.microsoft.com/office/drawing/2014/main" id="{BF23B28D-71B7-F7C0-FC15-546CB5E3AA2E}"/>
              </a:ext>
            </a:extLst>
          </p:cNvPr>
          <p:cNvSpPr txBox="1"/>
          <p:nvPr/>
        </p:nvSpPr>
        <p:spPr>
          <a:xfrm>
            <a:off x="1397850" y="4787520"/>
            <a:ext cx="9681632" cy="1200329"/>
          </a:xfrm>
          <a:prstGeom prst="rect">
            <a:avLst/>
          </a:prstGeom>
          <a:noFill/>
        </p:spPr>
        <p:txBody>
          <a:bodyPr wrap="square" rtlCol="0">
            <a:spAutoFit/>
          </a:bodyPr>
          <a:lstStyle/>
          <a:p>
            <a:pPr algn="ctr"/>
            <a:r>
              <a:rPr lang="en-US" b="1" dirty="0"/>
              <a:t>$59,495 per capita per year</a:t>
            </a:r>
          </a:p>
          <a:p>
            <a:pPr algn="ctr"/>
            <a:br>
              <a:rPr lang="en-US" b="1" dirty="0">
                <a:solidFill>
                  <a:schemeClr val="tx1">
                    <a:lumMod val="95000"/>
                  </a:schemeClr>
                </a:solidFill>
              </a:rPr>
            </a:br>
            <a:r>
              <a:rPr lang="en-US" b="1" dirty="0">
                <a:solidFill>
                  <a:schemeClr val="tx1">
                    <a:lumMod val="95000"/>
                  </a:schemeClr>
                </a:solidFill>
              </a:rPr>
              <a:t>GDP: 18.57 trillion </a:t>
            </a:r>
            <a:br>
              <a:rPr lang="en-US" b="1" dirty="0">
                <a:solidFill>
                  <a:schemeClr val="tx1">
                    <a:lumMod val="95000"/>
                  </a:schemeClr>
                </a:solidFill>
              </a:rPr>
            </a:br>
            <a:r>
              <a:rPr lang="en-US" b="1" dirty="0">
                <a:solidFill>
                  <a:schemeClr val="tx1">
                    <a:lumMod val="95000"/>
                  </a:schemeClr>
                </a:solidFill>
              </a:rPr>
              <a:t>Population: 330 million</a:t>
            </a:r>
            <a:endParaRPr lang="en-TO" b="1" dirty="0">
              <a:solidFill>
                <a:schemeClr val="tx1">
                  <a:lumMod val="95000"/>
                </a:schemeClr>
              </a:solidFill>
            </a:endParaRPr>
          </a:p>
        </p:txBody>
      </p:sp>
    </p:spTree>
    <p:extLst>
      <p:ext uri="{BB962C8B-B14F-4D97-AF65-F5344CB8AC3E}">
        <p14:creationId xmlns:p14="http://schemas.microsoft.com/office/powerpoint/2010/main" val="3099975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A0F61-B182-0034-C602-63876754FA0B}"/>
            </a:ext>
          </a:extLst>
        </p:cNvPr>
        <p:cNvGrpSpPr/>
        <p:nvPr/>
      </p:nvGrpSpPr>
      <p:grpSpPr>
        <a:xfrm>
          <a:off x="0" y="0"/>
          <a:ext cx="0" cy="0"/>
          <a:chOff x="0" y="0"/>
          <a:chExt cx="0" cy="0"/>
        </a:xfrm>
      </p:grpSpPr>
      <p:sp>
        <p:nvSpPr>
          <p:cNvPr id="3" name="Freeform: Shape 2">
            <a:extLst>
              <a:ext uri="{FF2B5EF4-FFF2-40B4-BE49-F238E27FC236}">
                <a16:creationId xmlns:a16="http://schemas.microsoft.com/office/drawing/2014/main" id="{D8780801-14C7-7AA7-49F9-61D82E00BC3D}"/>
              </a:ext>
            </a:extLst>
          </p:cNvPr>
          <p:cNvSpPr/>
          <p:nvPr/>
        </p:nvSpPr>
        <p:spPr>
          <a:xfrm>
            <a:off x="218319" y="139487"/>
            <a:ext cx="11755361" cy="6579025"/>
          </a:xfrm>
          <a:custGeom>
            <a:avLst/>
            <a:gdLst>
              <a:gd name="csX0" fmla="*/ 484414 w 11755361"/>
              <a:gd name="csY0" fmla="*/ 351580 h 6579025"/>
              <a:gd name="csX1" fmla="*/ 484414 w 11755361"/>
              <a:gd name="csY1" fmla="*/ 6303646 h 6579025"/>
              <a:gd name="csX2" fmla="*/ 11279414 w 11755361"/>
              <a:gd name="csY2" fmla="*/ 6303646 h 6579025"/>
              <a:gd name="csX3" fmla="*/ 11279414 w 11755361"/>
              <a:gd name="csY3" fmla="*/ 351580 h 6579025"/>
              <a:gd name="csX4" fmla="*/ 0 w 11755361"/>
              <a:gd name="csY4" fmla="*/ 0 h 6579025"/>
              <a:gd name="csX5" fmla="*/ 11755361 w 11755361"/>
              <a:gd name="csY5" fmla="*/ 0 h 6579025"/>
              <a:gd name="csX6" fmla="*/ 11755361 w 11755361"/>
              <a:gd name="csY6" fmla="*/ 6579025 h 6579025"/>
              <a:gd name="csX7" fmla="*/ 0 w 11755361"/>
              <a:gd name="csY7" fmla="*/ 6579025 h 6579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1755361" h="6579025">
                <a:moveTo>
                  <a:pt x="484414" y="351580"/>
                </a:moveTo>
                <a:lnTo>
                  <a:pt x="484414" y="6303646"/>
                </a:lnTo>
                <a:lnTo>
                  <a:pt x="11279414" y="6303646"/>
                </a:lnTo>
                <a:lnTo>
                  <a:pt x="11279414" y="351580"/>
                </a:lnTo>
                <a:close/>
                <a:moveTo>
                  <a:pt x="0" y="0"/>
                </a:moveTo>
                <a:lnTo>
                  <a:pt x="11755361" y="0"/>
                </a:lnTo>
                <a:lnTo>
                  <a:pt x="11755361" y="6579025"/>
                </a:lnTo>
                <a:lnTo>
                  <a:pt x="0" y="6579025"/>
                </a:lnTo>
                <a:close/>
              </a:path>
            </a:pathLst>
          </a:custGeom>
          <a:solidFill>
            <a:srgbClr val="FFFFFF">
              <a:alpha val="20000"/>
            </a:srgbClr>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endParaRPr lang="en-TO">
              <a:solidFill>
                <a:schemeClr val="tx1"/>
              </a:solidFill>
            </a:endParaRPr>
          </a:p>
        </p:txBody>
      </p:sp>
      <p:pic>
        <p:nvPicPr>
          <p:cNvPr id="4" name="Picture 3">
            <a:extLst>
              <a:ext uri="{FF2B5EF4-FFF2-40B4-BE49-F238E27FC236}">
                <a16:creationId xmlns:a16="http://schemas.microsoft.com/office/drawing/2014/main" id="{185EB6C2-CFB9-6CE0-92F9-91898E28E911}"/>
              </a:ext>
            </a:extLst>
          </p:cNvPr>
          <p:cNvPicPr>
            <a:picLocks noChangeAspect="1"/>
          </p:cNvPicPr>
          <p:nvPr/>
        </p:nvPicPr>
        <p:blipFill>
          <a:blip r:embed="rId3">
            <a:extLst>
              <a:ext uri="{28A0092B-C50C-407E-A947-70E740481C1C}">
                <a14:useLocalDpi xmlns:a14="http://schemas.microsoft.com/office/drawing/2010/main" val="0"/>
              </a:ext>
            </a:extLst>
          </a:blip>
          <a:srcRect t="23833" b="10167"/>
          <a:stretch>
            <a:fillRect/>
          </a:stretch>
        </p:blipFill>
        <p:spPr>
          <a:xfrm>
            <a:off x="1104899" y="731520"/>
            <a:ext cx="4991100" cy="3294126"/>
          </a:xfrm>
          <a:prstGeom prst="rect">
            <a:avLst/>
          </a:prstGeom>
        </p:spPr>
      </p:pic>
      <p:sp>
        <p:nvSpPr>
          <p:cNvPr id="5" name="TextBox 4">
            <a:extLst>
              <a:ext uri="{FF2B5EF4-FFF2-40B4-BE49-F238E27FC236}">
                <a16:creationId xmlns:a16="http://schemas.microsoft.com/office/drawing/2014/main" id="{0A5E29DC-7319-DC2D-3E7C-DBE675B434C5}"/>
              </a:ext>
            </a:extLst>
          </p:cNvPr>
          <p:cNvSpPr txBox="1"/>
          <p:nvPr/>
        </p:nvSpPr>
        <p:spPr>
          <a:xfrm>
            <a:off x="6419850" y="1848308"/>
            <a:ext cx="9681632" cy="707886"/>
          </a:xfrm>
          <a:prstGeom prst="rect">
            <a:avLst/>
          </a:prstGeom>
          <a:noFill/>
        </p:spPr>
        <p:txBody>
          <a:bodyPr wrap="square" rtlCol="0">
            <a:spAutoFit/>
          </a:bodyPr>
          <a:lstStyle/>
          <a:p>
            <a:pPr marL="342900" indent="-342900">
              <a:buFont typeface="Arial" panose="020B0604020202020204" pitchFamily="34" charset="0"/>
              <a:buChar char="•"/>
            </a:pPr>
            <a:r>
              <a:rPr lang="en-US" sz="2000" dirty="0"/>
              <a:t>Top 10% own 70% of US wealth</a:t>
            </a:r>
          </a:p>
          <a:p>
            <a:pPr marL="342900" indent="-342900">
              <a:buFont typeface="Arial" panose="020B0604020202020204" pitchFamily="34" charset="0"/>
              <a:buChar char="•"/>
            </a:pPr>
            <a:r>
              <a:rPr lang="en-US" sz="2000" dirty="0">
                <a:solidFill>
                  <a:schemeClr val="tx1">
                    <a:lumMod val="95000"/>
                  </a:schemeClr>
                </a:solidFill>
              </a:rPr>
              <a:t>Unprecedented gap between rich and poor</a:t>
            </a:r>
            <a:endParaRPr lang="en-TO" sz="2000" dirty="0">
              <a:solidFill>
                <a:schemeClr val="tx1">
                  <a:lumMod val="95000"/>
                </a:schemeClr>
              </a:solidFill>
            </a:endParaRPr>
          </a:p>
        </p:txBody>
      </p:sp>
      <p:sp>
        <p:nvSpPr>
          <p:cNvPr id="6" name="TextBox 5">
            <a:extLst>
              <a:ext uri="{FF2B5EF4-FFF2-40B4-BE49-F238E27FC236}">
                <a16:creationId xmlns:a16="http://schemas.microsoft.com/office/drawing/2014/main" id="{22B5FA3C-77D3-FA00-93AC-D86D5C068E23}"/>
              </a:ext>
            </a:extLst>
          </p:cNvPr>
          <p:cNvSpPr txBox="1"/>
          <p:nvPr/>
        </p:nvSpPr>
        <p:spPr>
          <a:xfrm>
            <a:off x="2292048" y="4778198"/>
            <a:ext cx="9681632"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a:t>Jeff </a:t>
            </a:r>
            <a:r>
              <a:rPr lang="en-US" sz="2000" dirty="0" err="1"/>
              <a:t>Bezoz</a:t>
            </a:r>
            <a:r>
              <a:rPr lang="en-US" sz="2000" dirty="0"/>
              <a:t>, Bill Gates, and Warren Buffet (286 bn) = 165,000 </a:t>
            </a:r>
            <a:r>
              <a:rPr lang="en-US" sz="2000" dirty="0" err="1"/>
              <a:t>americans</a:t>
            </a:r>
            <a:endParaRPr lang="en-TO" sz="2000" dirty="0">
              <a:solidFill>
                <a:schemeClr val="tx1">
                  <a:lumMod val="95000"/>
                </a:schemeClr>
              </a:solidFill>
            </a:endParaRPr>
          </a:p>
        </p:txBody>
      </p:sp>
    </p:spTree>
    <p:extLst>
      <p:ext uri="{BB962C8B-B14F-4D97-AF65-F5344CB8AC3E}">
        <p14:creationId xmlns:p14="http://schemas.microsoft.com/office/powerpoint/2010/main" val="1499186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68CF-E233-9933-D836-D4486964D1BC}"/>
            </a:ext>
          </a:extLst>
        </p:cNvPr>
        <p:cNvGrpSpPr/>
        <p:nvPr/>
      </p:nvGrpSpPr>
      <p:grpSpPr>
        <a:xfrm>
          <a:off x="0" y="0"/>
          <a:ext cx="0" cy="0"/>
          <a:chOff x="0" y="0"/>
          <a:chExt cx="0" cy="0"/>
        </a:xfrm>
      </p:grpSpPr>
      <p:sp>
        <p:nvSpPr>
          <p:cNvPr id="3" name="Freeform: Shape 2">
            <a:extLst>
              <a:ext uri="{FF2B5EF4-FFF2-40B4-BE49-F238E27FC236}">
                <a16:creationId xmlns:a16="http://schemas.microsoft.com/office/drawing/2014/main" id="{62DC84B1-683B-F85F-E23B-B63F592FC086}"/>
              </a:ext>
            </a:extLst>
          </p:cNvPr>
          <p:cNvSpPr/>
          <p:nvPr/>
        </p:nvSpPr>
        <p:spPr>
          <a:xfrm>
            <a:off x="218319" y="139487"/>
            <a:ext cx="11755361" cy="6579025"/>
          </a:xfrm>
          <a:custGeom>
            <a:avLst/>
            <a:gdLst>
              <a:gd name="csX0" fmla="*/ 484414 w 11755361"/>
              <a:gd name="csY0" fmla="*/ 351580 h 6579025"/>
              <a:gd name="csX1" fmla="*/ 484414 w 11755361"/>
              <a:gd name="csY1" fmla="*/ 6303646 h 6579025"/>
              <a:gd name="csX2" fmla="*/ 11279414 w 11755361"/>
              <a:gd name="csY2" fmla="*/ 6303646 h 6579025"/>
              <a:gd name="csX3" fmla="*/ 11279414 w 11755361"/>
              <a:gd name="csY3" fmla="*/ 351580 h 6579025"/>
              <a:gd name="csX4" fmla="*/ 0 w 11755361"/>
              <a:gd name="csY4" fmla="*/ 0 h 6579025"/>
              <a:gd name="csX5" fmla="*/ 11755361 w 11755361"/>
              <a:gd name="csY5" fmla="*/ 0 h 6579025"/>
              <a:gd name="csX6" fmla="*/ 11755361 w 11755361"/>
              <a:gd name="csY6" fmla="*/ 6579025 h 6579025"/>
              <a:gd name="csX7" fmla="*/ 0 w 11755361"/>
              <a:gd name="csY7" fmla="*/ 6579025 h 6579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1755361" h="6579025">
                <a:moveTo>
                  <a:pt x="484414" y="351580"/>
                </a:moveTo>
                <a:lnTo>
                  <a:pt x="484414" y="6303646"/>
                </a:lnTo>
                <a:lnTo>
                  <a:pt x="11279414" y="6303646"/>
                </a:lnTo>
                <a:lnTo>
                  <a:pt x="11279414" y="351580"/>
                </a:lnTo>
                <a:close/>
                <a:moveTo>
                  <a:pt x="0" y="0"/>
                </a:moveTo>
                <a:lnTo>
                  <a:pt x="11755361" y="0"/>
                </a:lnTo>
                <a:lnTo>
                  <a:pt x="11755361" y="6579025"/>
                </a:lnTo>
                <a:lnTo>
                  <a:pt x="0" y="6579025"/>
                </a:lnTo>
                <a:close/>
              </a:path>
            </a:pathLst>
          </a:custGeom>
          <a:solidFill>
            <a:srgbClr val="FFFFFF">
              <a:alpha val="20000"/>
            </a:srgbClr>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endParaRPr lang="en-TO">
              <a:solidFill>
                <a:schemeClr val="tx1"/>
              </a:solidFill>
            </a:endParaRPr>
          </a:p>
        </p:txBody>
      </p:sp>
      <p:sp>
        <p:nvSpPr>
          <p:cNvPr id="2" name="TextBox 1">
            <a:extLst>
              <a:ext uri="{FF2B5EF4-FFF2-40B4-BE49-F238E27FC236}">
                <a16:creationId xmlns:a16="http://schemas.microsoft.com/office/drawing/2014/main" id="{90E97FCA-8264-1EF4-E2E2-9BE29D05F15D}"/>
              </a:ext>
            </a:extLst>
          </p:cNvPr>
          <p:cNvSpPr txBox="1"/>
          <p:nvPr/>
        </p:nvSpPr>
        <p:spPr>
          <a:xfrm>
            <a:off x="1257300" y="1085850"/>
            <a:ext cx="7258050" cy="369332"/>
          </a:xfrm>
          <a:prstGeom prst="rect">
            <a:avLst/>
          </a:prstGeom>
          <a:noFill/>
        </p:spPr>
        <p:txBody>
          <a:bodyPr wrap="square" rtlCol="0">
            <a:spAutoFit/>
          </a:bodyPr>
          <a:lstStyle/>
          <a:p>
            <a:r>
              <a:rPr lang="en-US" dirty="0"/>
              <a:t> </a:t>
            </a:r>
            <a:endParaRPr lang="en-TO" dirty="0"/>
          </a:p>
        </p:txBody>
      </p:sp>
      <p:pic>
        <p:nvPicPr>
          <p:cNvPr id="8" name="Picture 7">
            <a:extLst>
              <a:ext uri="{FF2B5EF4-FFF2-40B4-BE49-F238E27FC236}">
                <a16:creationId xmlns:a16="http://schemas.microsoft.com/office/drawing/2014/main" id="{E1F28BFB-785A-AA41-FA5D-D0F6D7DABB4B}"/>
              </a:ext>
            </a:extLst>
          </p:cNvPr>
          <p:cNvPicPr>
            <a:picLocks noChangeAspect="1"/>
          </p:cNvPicPr>
          <p:nvPr/>
        </p:nvPicPr>
        <p:blipFill>
          <a:blip r:embed="rId3"/>
          <a:stretch>
            <a:fillRect/>
          </a:stretch>
        </p:blipFill>
        <p:spPr>
          <a:xfrm>
            <a:off x="1831036" y="1455182"/>
            <a:ext cx="6110577" cy="3567666"/>
          </a:xfrm>
          <a:prstGeom prst="rect">
            <a:avLst/>
          </a:prstGeom>
        </p:spPr>
      </p:pic>
    </p:spTree>
    <p:extLst>
      <p:ext uri="{BB962C8B-B14F-4D97-AF65-F5344CB8AC3E}">
        <p14:creationId xmlns:p14="http://schemas.microsoft.com/office/powerpoint/2010/main" val="3182469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0E0E3-F8BC-F2A2-1550-571BEEDBC9A8}"/>
            </a:ext>
          </a:extLst>
        </p:cNvPr>
        <p:cNvGrpSpPr/>
        <p:nvPr/>
      </p:nvGrpSpPr>
      <p:grpSpPr>
        <a:xfrm>
          <a:off x="0" y="0"/>
          <a:ext cx="0" cy="0"/>
          <a:chOff x="0" y="0"/>
          <a:chExt cx="0" cy="0"/>
        </a:xfrm>
      </p:grpSpPr>
      <p:sp>
        <p:nvSpPr>
          <p:cNvPr id="3" name="Freeform: Shape 2">
            <a:extLst>
              <a:ext uri="{FF2B5EF4-FFF2-40B4-BE49-F238E27FC236}">
                <a16:creationId xmlns:a16="http://schemas.microsoft.com/office/drawing/2014/main" id="{1F17665E-3B52-A3DE-D669-35DCB9480FD0}"/>
              </a:ext>
            </a:extLst>
          </p:cNvPr>
          <p:cNvSpPr/>
          <p:nvPr/>
        </p:nvSpPr>
        <p:spPr>
          <a:xfrm>
            <a:off x="218319" y="139487"/>
            <a:ext cx="11755361" cy="6579025"/>
          </a:xfrm>
          <a:custGeom>
            <a:avLst/>
            <a:gdLst>
              <a:gd name="csX0" fmla="*/ 484414 w 11755361"/>
              <a:gd name="csY0" fmla="*/ 351580 h 6579025"/>
              <a:gd name="csX1" fmla="*/ 484414 w 11755361"/>
              <a:gd name="csY1" fmla="*/ 6303646 h 6579025"/>
              <a:gd name="csX2" fmla="*/ 11279414 w 11755361"/>
              <a:gd name="csY2" fmla="*/ 6303646 h 6579025"/>
              <a:gd name="csX3" fmla="*/ 11279414 w 11755361"/>
              <a:gd name="csY3" fmla="*/ 351580 h 6579025"/>
              <a:gd name="csX4" fmla="*/ 0 w 11755361"/>
              <a:gd name="csY4" fmla="*/ 0 h 6579025"/>
              <a:gd name="csX5" fmla="*/ 11755361 w 11755361"/>
              <a:gd name="csY5" fmla="*/ 0 h 6579025"/>
              <a:gd name="csX6" fmla="*/ 11755361 w 11755361"/>
              <a:gd name="csY6" fmla="*/ 6579025 h 6579025"/>
              <a:gd name="csX7" fmla="*/ 0 w 11755361"/>
              <a:gd name="csY7" fmla="*/ 6579025 h 6579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1755361" h="6579025">
                <a:moveTo>
                  <a:pt x="484414" y="351580"/>
                </a:moveTo>
                <a:lnTo>
                  <a:pt x="484414" y="6303646"/>
                </a:lnTo>
                <a:lnTo>
                  <a:pt x="11279414" y="6303646"/>
                </a:lnTo>
                <a:lnTo>
                  <a:pt x="11279414" y="351580"/>
                </a:lnTo>
                <a:close/>
                <a:moveTo>
                  <a:pt x="0" y="0"/>
                </a:moveTo>
                <a:lnTo>
                  <a:pt x="11755361" y="0"/>
                </a:lnTo>
                <a:lnTo>
                  <a:pt x="11755361" y="6579025"/>
                </a:lnTo>
                <a:lnTo>
                  <a:pt x="0" y="6579025"/>
                </a:lnTo>
                <a:close/>
              </a:path>
            </a:pathLst>
          </a:custGeom>
          <a:solidFill>
            <a:srgbClr val="FFFFFF">
              <a:alpha val="20000"/>
            </a:srgbClr>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endParaRPr lang="en-TO">
              <a:solidFill>
                <a:schemeClr val="tx1"/>
              </a:solidFill>
            </a:endParaRPr>
          </a:p>
        </p:txBody>
      </p:sp>
      <p:sp>
        <p:nvSpPr>
          <p:cNvPr id="2" name="TextBox 1">
            <a:extLst>
              <a:ext uri="{FF2B5EF4-FFF2-40B4-BE49-F238E27FC236}">
                <a16:creationId xmlns:a16="http://schemas.microsoft.com/office/drawing/2014/main" id="{5F055848-0AC1-5EC7-C2AA-183A36C274B8}"/>
              </a:ext>
            </a:extLst>
          </p:cNvPr>
          <p:cNvSpPr txBox="1"/>
          <p:nvPr/>
        </p:nvSpPr>
        <p:spPr>
          <a:xfrm>
            <a:off x="1257300" y="1085850"/>
            <a:ext cx="7258050" cy="369332"/>
          </a:xfrm>
          <a:prstGeom prst="rect">
            <a:avLst/>
          </a:prstGeom>
          <a:noFill/>
        </p:spPr>
        <p:txBody>
          <a:bodyPr wrap="square" rtlCol="0">
            <a:spAutoFit/>
          </a:bodyPr>
          <a:lstStyle/>
          <a:p>
            <a:r>
              <a:rPr lang="en-US" dirty="0"/>
              <a:t> </a:t>
            </a:r>
            <a:endParaRPr lang="en-TO" dirty="0"/>
          </a:p>
        </p:txBody>
      </p:sp>
      <p:sp>
        <p:nvSpPr>
          <p:cNvPr id="4" name="TextBox 3">
            <a:extLst>
              <a:ext uri="{FF2B5EF4-FFF2-40B4-BE49-F238E27FC236}">
                <a16:creationId xmlns:a16="http://schemas.microsoft.com/office/drawing/2014/main" id="{B64E986C-28C1-3138-F6FB-EED1B4BF4CFE}"/>
              </a:ext>
            </a:extLst>
          </p:cNvPr>
          <p:cNvSpPr txBox="1"/>
          <p:nvPr/>
        </p:nvSpPr>
        <p:spPr>
          <a:xfrm>
            <a:off x="1255183" y="2614118"/>
            <a:ext cx="9681632" cy="1631216"/>
          </a:xfrm>
          <a:prstGeom prst="rect">
            <a:avLst/>
          </a:prstGeom>
          <a:noFill/>
        </p:spPr>
        <p:txBody>
          <a:bodyPr wrap="square" rtlCol="0">
            <a:spAutoFit/>
          </a:bodyPr>
          <a:lstStyle/>
          <a:p>
            <a:pPr algn="ctr"/>
            <a:r>
              <a:rPr lang="en-US" sz="2000" b="1" dirty="0">
                <a:solidFill>
                  <a:schemeClr val="tx1">
                    <a:lumMod val="95000"/>
                  </a:schemeClr>
                </a:solidFill>
              </a:rPr>
              <a:t>The effect of wealth disparity</a:t>
            </a:r>
          </a:p>
          <a:p>
            <a:pPr algn="ctr"/>
            <a:endParaRPr lang="en-US" sz="2000" b="1" dirty="0">
              <a:solidFill>
                <a:schemeClr val="tx1">
                  <a:lumMod val="95000"/>
                </a:schemeClr>
              </a:solidFill>
            </a:endParaRPr>
          </a:p>
          <a:p>
            <a:pPr marL="342900" indent="-342900" algn="ctr">
              <a:buFontTx/>
              <a:buChar char="-"/>
            </a:pPr>
            <a:r>
              <a:rPr lang="en-US" sz="2000" dirty="0">
                <a:solidFill>
                  <a:schemeClr val="tx1">
                    <a:lumMod val="95000"/>
                  </a:schemeClr>
                </a:solidFill>
              </a:rPr>
              <a:t>Slower economic growth</a:t>
            </a:r>
          </a:p>
          <a:p>
            <a:pPr marL="342900" indent="-342900" algn="ctr">
              <a:buFontTx/>
              <a:buChar char="-"/>
            </a:pPr>
            <a:r>
              <a:rPr lang="en-US" sz="2000" dirty="0">
                <a:solidFill>
                  <a:schemeClr val="tx1">
                    <a:lumMod val="95000"/>
                  </a:schemeClr>
                </a:solidFill>
              </a:rPr>
              <a:t>Promotes welfare states (Food stamps, housing commission)</a:t>
            </a:r>
          </a:p>
          <a:p>
            <a:pPr marL="342900" indent="-342900" algn="ctr">
              <a:buFontTx/>
              <a:buChar char="-"/>
            </a:pPr>
            <a:r>
              <a:rPr lang="en-US" sz="2000" dirty="0">
                <a:solidFill>
                  <a:schemeClr val="tx1">
                    <a:lumMod val="95000"/>
                  </a:schemeClr>
                </a:solidFill>
              </a:rPr>
              <a:t>Disruption of social cohesion</a:t>
            </a:r>
            <a:endParaRPr lang="en-TO" sz="2000" dirty="0">
              <a:solidFill>
                <a:schemeClr val="tx1">
                  <a:lumMod val="95000"/>
                </a:schemeClr>
              </a:solidFill>
            </a:endParaRPr>
          </a:p>
        </p:txBody>
      </p:sp>
    </p:spTree>
    <p:extLst>
      <p:ext uri="{BB962C8B-B14F-4D97-AF65-F5344CB8AC3E}">
        <p14:creationId xmlns:p14="http://schemas.microsoft.com/office/powerpoint/2010/main" val="1386766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E0CF4-A772-070F-DB3E-131F98A3DC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B3C28AA-EB5B-9772-5E6B-EB54C2C45DE3}"/>
              </a:ext>
            </a:extLst>
          </p:cNvPr>
          <p:cNvSpPr txBox="1"/>
          <p:nvPr/>
        </p:nvSpPr>
        <p:spPr>
          <a:xfrm>
            <a:off x="4157134" y="1329266"/>
            <a:ext cx="3437467" cy="369332"/>
          </a:xfrm>
          <a:prstGeom prst="rect">
            <a:avLst/>
          </a:prstGeom>
          <a:noFill/>
          <a:ln>
            <a:solidFill>
              <a:schemeClr val="tx1"/>
            </a:solidFill>
          </a:ln>
        </p:spPr>
        <p:txBody>
          <a:bodyPr wrap="square" rtlCol="0">
            <a:spAutoFit/>
          </a:bodyPr>
          <a:lstStyle/>
          <a:p>
            <a:pPr algn="ctr"/>
            <a:r>
              <a:rPr lang="en-US" dirty="0"/>
              <a:t>Is there a </a:t>
            </a:r>
            <a:r>
              <a:rPr lang="en-US" b="1" dirty="0"/>
              <a:t>solution?</a:t>
            </a:r>
            <a:endParaRPr lang="en-TO" dirty="0"/>
          </a:p>
        </p:txBody>
      </p:sp>
      <p:sp>
        <p:nvSpPr>
          <p:cNvPr id="5" name="TextBox 4">
            <a:extLst>
              <a:ext uri="{FF2B5EF4-FFF2-40B4-BE49-F238E27FC236}">
                <a16:creationId xmlns:a16="http://schemas.microsoft.com/office/drawing/2014/main" id="{4A963A47-CC11-922D-CFB7-99ECF2BFC707}"/>
              </a:ext>
            </a:extLst>
          </p:cNvPr>
          <p:cNvSpPr txBox="1"/>
          <p:nvPr/>
        </p:nvSpPr>
        <p:spPr>
          <a:xfrm>
            <a:off x="3399367" y="2598003"/>
            <a:ext cx="4953000" cy="1938992"/>
          </a:xfrm>
          <a:prstGeom prst="rect">
            <a:avLst/>
          </a:prstGeom>
          <a:noFill/>
        </p:spPr>
        <p:txBody>
          <a:bodyPr wrap="square" rtlCol="0">
            <a:spAutoFit/>
          </a:bodyPr>
          <a:lstStyle/>
          <a:p>
            <a:pPr algn="ctr"/>
            <a:r>
              <a:rPr lang="en-US" sz="2400" dirty="0"/>
              <a:t>No solution can be found to solve the problem of disparity if the principle of </a:t>
            </a:r>
            <a:r>
              <a:rPr lang="en-US" sz="2400" b="1" dirty="0"/>
              <a:t>justice</a:t>
            </a:r>
            <a:r>
              <a:rPr lang="en-US" sz="2400" dirty="0"/>
              <a:t> and </a:t>
            </a:r>
            <a:r>
              <a:rPr lang="en-US" sz="2400" b="1" dirty="0"/>
              <a:t>fairness</a:t>
            </a:r>
            <a:r>
              <a:rPr lang="en-US" sz="2400" dirty="0"/>
              <a:t> has not been upheld by individuals communities and institutions of our societies</a:t>
            </a:r>
            <a:endParaRPr lang="en-TO" sz="2400" dirty="0"/>
          </a:p>
        </p:txBody>
      </p:sp>
      <p:sp>
        <p:nvSpPr>
          <p:cNvPr id="6" name="Frame 5">
            <a:extLst>
              <a:ext uri="{FF2B5EF4-FFF2-40B4-BE49-F238E27FC236}">
                <a16:creationId xmlns:a16="http://schemas.microsoft.com/office/drawing/2014/main" id="{6C026794-023D-0EF9-779E-5F793F754E9D}"/>
              </a:ext>
            </a:extLst>
          </p:cNvPr>
          <p:cNvSpPr/>
          <p:nvPr/>
        </p:nvSpPr>
        <p:spPr>
          <a:xfrm>
            <a:off x="491068" y="414870"/>
            <a:ext cx="11074400" cy="5799667"/>
          </a:xfrm>
          <a:prstGeom prst="frame">
            <a:avLst/>
          </a:prstGeom>
          <a:solidFill>
            <a:srgbClr val="FFFFFF">
              <a:alpha val="20000"/>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O">
              <a:solidFill>
                <a:schemeClr val="tx1"/>
              </a:solidFill>
            </a:endParaRPr>
          </a:p>
        </p:txBody>
      </p:sp>
    </p:spTree>
    <p:extLst>
      <p:ext uri="{BB962C8B-B14F-4D97-AF65-F5344CB8AC3E}">
        <p14:creationId xmlns:p14="http://schemas.microsoft.com/office/powerpoint/2010/main" val="2248304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0B3B4-9B59-CA46-0573-10F9F23C2429}"/>
            </a:ext>
          </a:extLst>
        </p:cNvPr>
        <p:cNvGrpSpPr/>
        <p:nvPr/>
      </p:nvGrpSpPr>
      <p:grpSpPr>
        <a:xfrm>
          <a:off x="0" y="0"/>
          <a:ext cx="0" cy="0"/>
          <a:chOff x="0" y="0"/>
          <a:chExt cx="0" cy="0"/>
        </a:xfrm>
      </p:grpSpPr>
      <p:sp>
        <p:nvSpPr>
          <p:cNvPr id="3" name="Freeform: Shape 2">
            <a:extLst>
              <a:ext uri="{FF2B5EF4-FFF2-40B4-BE49-F238E27FC236}">
                <a16:creationId xmlns:a16="http://schemas.microsoft.com/office/drawing/2014/main" id="{EF77AE73-9FD9-07F4-98EB-EC66C87B9C07}"/>
              </a:ext>
            </a:extLst>
          </p:cNvPr>
          <p:cNvSpPr/>
          <p:nvPr/>
        </p:nvSpPr>
        <p:spPr>
          <a:xfrm>
            <a:off x="218319" y="139487"/>
            <a:ext cx="11755361" cy="6579025"/>
          </a:xfrm>
          <a:custGeom>
            <a:avLst/>
            <a:gdLst>
              <a:gd name="csX0" fmla="*/ 484414 w 11755361"/>
              <a:gd name="csY0" fmla="*/ 351580 h 6579025"/>
              <a:gd name="csX1" fmla="*/ 484414 w 11755361"/>
              <a:gd name="csY1" fmla="*/ 6303646 h 6579025"/>
              <a:gd name="csX2" fmla="*/ 11279414 w 11755361"/>
              <a:gd name="csY2" fmla="*/ 6303646 h 6579025"/>
              <a:gd name="csX3" fmla="*/ 11279414 w 11755361"/>
              <a:gd name="csY3" fmla="*/ 351580 h 6579025"/>
              <a:gd name="csX4" fmla="*/ 0 w 11755361"/>
              <a:gd name="csY4" fmla="*/ 0 h 6579025"/>
              <a:gd name="csX5" fmla="*/ 11755361 w 11755361"/>
              <a:gd name="csY5" fmla="*/ 0 h 6579025"/>
              <a:gd name="csX6" fmla="*/ 11755361 w 11755361"/>
              <a:gd name="csY6" fmla="*/ 6579025 h 6579025"/>
              <a:gd name="csX7" fmla="*/ 0 w 11755361"/>
              <a:gd name="csY7" fmla="*/ 6579025 h 6579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1755361" h="6579025">
                <a:moveTo>
                  <a:pt x="484414" y="351580"/>
                </a:moveTo>
                <a:lnTo>
                  <a:pt x="484414" y="6303646"/>
                </a:lnTo>
                <a:lnTo>
                  <a:pt x="11279414" y="6303646"/>
                </a:lnTo>
                <a:lnTo>
                  <a:pt x="11279414" y="351580"/>
                </a:lnTo>
                <a:close/>
                <a:moveTo>
                  <a:pt x="0" y="0"/>
                </a:moveTo>
                <a:lnTo>
                  <a:pt x="11755361" y="0"/>
                </a:lnTo>
                <a:lnTo>
                  <a:pt x="11755361" y="6579025"/>
                </a:lnTo>
                <a:lnTo>
                  <a:pt x="0" y="6579025"/>
                </a:lnTo>
                <a:close/>
              </a:path>
            </a:pathLst>
          </a:custGeom>
          <a:solidFill>
            <a:srgbClr val="FFFFFF">
              <a:alpha val="20000"/>
            </a:srgbClr>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endParaRPr lang="en-TO">
              <a:solidFill>
                <a:schemeClr val="tx1"/>
              </a:solidFill>
            </a:endParaRPr>
          </a:p>
        </p:txBody>
      </p:sp>
      <p:sp>
        <p:nvSpPr>
          <p:cNvPr id="2" name="TextBox 1">
            <a:extLst>
              <a:ext uri="{FF2B5EF4-FFF2-40B4-BE49-F238E27FC236}">
                <a16:creationId xmlns:a16="http://schemas.microsoft.com/office/drawing/2014/main" id="{51959DDB-9823-A481-DB7C-656F07AB83A0}"/>
              </a:ext>
            </a:extLst>
          </p:cNvPr>
          <p:cNvSpPr txBox="1"/>
          <p:nvPr/>
        </p:nvSpPr>
        <p:spPr>
          <a:xfrm>
            <a:off x="1257300" y="1085850"/>
            <a:ext cx="7258050" cy="369332"/>
          </a:xfrm>
          <a:prstGeom prst="rect">
            <a:avLst/>
          </a:prstGeom>
          <a:noFill/>
        </p:spPr>
        <p:txBody>
          <a:bodyPr wrap="square" rtlCol="0">
            <a:spAutoFit/>
          </a:bodyPr>
          <a:lstStyle/>
          <a:p>
            <a:r>
              <a:rPr lang="en-US" dirty="0"/>
              <a:t> </a:t>
            </a:r>
            <a:endParaRPr lang="en-TO" dirty="0"/>
          </a:p>
        </p:txBody>
      </p:sp>
      <p:sp>
        <p:nvSpPr>
          <p:cNvPr id="4" name="TextBox 3">
            <a:extLst>
              <a:ext uri="{FF2B5EF4-FFF2-40B4-BE49-F238E27FC236}">
                <a16:creationId xmlns:a16="http://schemas.microsoft.com/office/drawing/2014/main" id="{ACF72C5A-6115-C262-0F7F-661B006B1DD9}"/>
              </a:ext>
            </a:extLst>
          </p:cNvPr>
          <p:cNvSpPr txBox="1"/>
          <p:nvPr/>
        </p:nvSpPr>
        <p:spPr>
          <a:xfrm>
            <a:off x="1255183" y="1843949"/>
            <a:ext cx="9681632" cy="3170099"/>
          </a:xfrm>
          <a:prstGeom prst="rect">
            <a:avLst/>
          </a:prstGeom>
          <a:noFill/>
        </p:spPr>
        <p:txBody>
          <a:bodyPr wrap="square" rtlCol="0">
            <a:spAutoFit/>
          </a:bodyPr>
          <a:lstStyle/>
          <a:p>
            <a:pPr algn="ctr"/>
            <a:r>
              <a:rPr lang="en-US" sz="2000" dirty="0">
                <a:solidFill>
                  <a:schemeClr val="tx1">
                    <a:lumMod val="95000"/>
                  </a:schemeClr>
                </a:solidFill>
              </a:rPr>
              <a:t>“O Son of Spirit!</a:t>
            </a:r>
            <a:br>
              <a:rPr lang="en-US" sz="2000" dirty="0">
                <a:solidFill>
                  <a:schemeClr val="tx1">
                    <a:lumMod val="95000"/>
                  </a:schemeClr>
                </a:solidFill>
              </a:rPr>
            </a:br>
            <a:r>
              <a:rPr lang="en-US" sz="2000" dirty="0">
                <a:solidFill>
                  <a:schemeClr val="tx1">
                    <a:lumMod val="95000"/>
                  </a:schemeClr>
                </a:solidFill>
              </a:rPr>
              <a:t>The best beloved of all things in My sight is Justice, turn not away therefrom if thou desires Me, and neglect it not that I may confide in thee. By its aid thou shalt see with thine own eyes and not through the knowledge of thy </a:t>
            </a:r>
            <a:r>
              <a:rPr lang="en-US" sz="2000" dirty="0" err="1">
                <a:solidFill>
                  <a:schemeClr val="tx1">
                    <a:lumMod val="95000"/>
                  </a:schemeClr>
                </a:solidFill>
              </a:rPr>
              <a:t>neighbour</a:t>
            </a:r>
            <a:r>
              <a:rPr lang="en-US" sz="2000" dirty="0">
                <a:solidFill>
                  <a:schemeClr val="tx1">
                    <a:lumMod val="95000"/>
                  </a:schemeClr>
                </a:solidFill>
              </a:rPr>
              <a:t>.”</a:t>
            </a:r>
          </a:p>
          <a:p>
            <a:pPr algn="ctr"/>
            <a:endParaRPr lang="en-US" sz="2000" dirty="0">
              <a:solidFill>
                <a:schemeClr val="tx1">
                  <a:lumMod val="95000"/>
                </a:schemeClr>
              </a:solidFill>
            </a:endParaRPr>
          </a:p>
          <a:p>
            <a:pPr algn="ctr"/>
            <a:r>
              <a:rPr lang="en-US" sz="2000" dirty="0">
                <a:solidFill>
                  <a:schemeClr val="tx1">
                    <a:lumMod val="95000"/>
                  </a:schemeClr>
                </a:solidFill>
              </a:rPr>
              <a:t>“There can be no doubt whatever that if the daystar of justice, which the clouds of tyranny have obscured, were to shed its light upon men, the face of the earth would be completely transformed.”</a:t>
            </a:r>
          </a:p>
          <a:p>
            <a:pPr algn="ctr"/>
            <a:endParaRPr lang="en-US" sz="2000" dirty="0">
              <a:solidFill>
                <a:schemeClr val="tx1">
                  <a:lumMod val="95000"/>
                </a:schemeClr>
              </a:solidFill>
            </a:endParaRPr>
          </a:p>
          <a:p>
            <a:pPr algn="ctr"/>
            <a:r>
              <a:rPr lang="en-US" sz="2000" dirty="0">
                <a:solidFill>
                  <a:schemeClr val="tx1">
                    <a:lumMod val="95000"/>
                  </a:schemeClr>
                </a:solidFill>
              </a:rPr>
              <a:t>- Baha’u’llah </a:t>
            </a:r>
            <a:endParaRPr lang="en-TO" sz="2000" dirty="0">
              <a:solidFill>
                <a:schemeClr val="tx1">
                  <a:lumMod val="95000"/>
                </a:schemeClr>
              </a:solidFill>
            </a:endParaRPr>
          </a:p>
        </p:txBody>
      </p:sp>
    </p:spTree>
    <p:extLst>
      <p:ext uri="{BB962C8B-B14F-4D97-AF65-F5344CB8AC3E}">
        <p14:creationId xmlns:p14="http://schemas.microsoft.com/office/powerpoint/2010/main" val="2216958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D3998-86D5-7342-E574-CCFCEEC710A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9F89C33-63A1-65A6-FB04-C714DF3550FD}"/>
              </a:ext>
            </a:extLst>
          </p:cNvPr>
          <p:cNvSpPr txBox="1"/>
          <p:nvPr/>
        </p:nvSpPr>
        <p:spPr>
          <a:xfrm>
            <a:off x="4157134" y="1329266"/>
            <a:ext cx="3437467" cy="369332"/>
          </a:xfrm>
          <a:prstGeom prst="rect">
            <a:avLst/>
          </a:prstGeom>
          <a:noFill/>
          <a:ln>
            <a:solidFill>
              <a:schemeClr val="tx1"/>
            </a:solidFill>
          </a:ln>
        </p:spPr>
        <p:txBody>
          <a:bodyPr wrap="square" rtlCol="0">
            <a:spAutoFit/>
          </a:bodyPr>
          <a:lstStyle/>
          <a:p>
            <a:pPr algn="ctr"/>
            <a:r>
              <a:rPr lang="en-US" dirty="0"/>
              <a:t>Baha’i Perspective</a:t>
            </a:r>
            <a:endParaRPr lang="en-TO" dirty="0"/>
          </a:p>
        </p:txBody>
      </p:sp>
      <p:sp>
        <p:nvSpPr>
          <p:cNvPr id="6" name="Frame 5">
            <a:extLst>
              <a:ext uri="{FF2B5EF4-FFF2-40B4-BE49-F238E27FC236}">
                <a16:creationId xmlns:a16="http://schemas.microsoft.com/office/drawing/2014/main" id="{07DC0BB7-C3F5-1CDF-2905-1C6B5DAAAEC3}"/>
              </a:ext>
            </a:extLst>
          </p:cNvPr>
          <p:cNvSpPr/>
          <p:nvPr/>
        </p:nvSpPr>
        <p:spPr>
          <a:xfrm>
            <a:off x="491068" y="414870"/>
            <a:ext cx="11074400" cy="5799667"/>
          </a:xfrm>
          <a:prstGeom prst="frame">
            <a:avLst/>
          </a:prstGeom>
          <a:solidFill>
            <a:srgbClr val="FFFFFF">
              <a:alpha val="20000"/>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O">
              <a:solidFill>
                <a:schemeClr val="tx1"/>
              </a:solidFill>
            </a:endParaRPr>
          </a:p>
        </p:txBody>
      </p:sp>
      <p:sp>
        <p:nvSpPr>
          <p:cNvPr id="9" name="TextBox 8">
            <a:extLst>
              <a:ext uri="{FF2B5EF4-FFF2-40B4-BE49-F238E27FC236}">
                <a16:creationId xmlns:a16="http://schemas.microsoft.com/office/drawing/2014/main" id="{6DC8E30C-D88F-1115-0BAE-98D03C0684F0}"/>
              </a:ext>
            </a:extLst>
          </p:cNvPr>
          <p:cNvSpPr txBox="1"/>
          <p:nvPr/>
        </p:nvSpPr>
        <p:spPr>
          <a:xfrm>
            <a:off x="1255183" y="1843949"/>
            <a:ext cx="9681632" cy="2862322"/>
          </a:xfrm>
          <a:prstGeom prst="rect">
            <a:avLst/>
          </a:prstGeom>
          <a:noFill/>
        </p:spPr>
        <p:txBody>
          <a:bodyPr wrap="square" rtlCol="0">
            <a:spAutoFit/>
          </a:bodyPr>
          <a:lstStyle/>
          <a:p>
            <a:pPr algn="ctr"/>
            <a:r>
              <a:rPr lang="en-US" sz="2000" dirty="0">
                <a:solidFill>
                  <a:schemeClr val="tx1">
                    <a:lumMod val="95000"/>
                  </a:schemeClr>
                </a:solidFill>
              </a:rPr>
              <a:t>Regard the world as a human body.</a:t>
            </a:r>
          </a:p>
          <a:p>
            <a:pPr algn="ctr"/>
            <a:endParaRPr lang="en-US" sz="2000" dirty="0">
              <a:solidFill>
                <a:schemeClr val="tx1">
                  <a:lumMod val="95000"/>
                </a:schemeClr>
              </a:solidFill>
            </a:endParaRPr>
          </a:p>
          <a:p>
            <a:pPr algn="ctr"/>
            <a:endParaRPr lang="en-US" sz="2000" dirty="0">
              <a:solidFill>
                <a:schemeClr val="tx1">
                  <a:lumMod val="95000"/>
                </a:schemeClr>
              </a:solidFill>
            </a:endParaRPr>
          </a:p>
          <a:p>
            <a:pPr marL="342900" indent="-342900" algn="ctr">
              <a:buFont typeface="Wingdings" panose="05000000000000000000" pitchFamily="2" charset="2"/>
              <a:buChar char="è"/>
            </a:pPr>
            <a:r>
              <a:rPr lang="en-US" sz="2000" dirty="0">
                <a:solidFill>
                  <a:schemeClr val="tx1">
                    <a:lumMod val="95000"/>
                  </a:schemeClr>
                </a:solidFill>
              </a:rPr>
              <a:t>In the human body, the cooperation ensures the function of the system. Similarly, civilization can be seen as the set up interaction of the closely integrated yet diverse component. Components which have transcended the narrow purpose of tending to their own existence.</a:t>
            </a:r>
          </a:p>
          <a:p>
            <a:pPr marL="342900" indent="-342900" algn="ctr">
              <a:buFont typeface="Wingdings" panose="05000000000000000000" pitchFamily="2" charset="2"/>
              <a:buChar char="è"/>
            </a:pPr>
            <a:endParaRPr lang="en-US" sz="2000" dirty="0">
              <a:solidFill>
                <a:schemeClr val="tx1">
                  <a:lumMod val="95000"/>
                </a:schemeClr>
              </a:solidFill>
            </a:endParaRPr>
          </a:p>
          <a:p>
            <a:pPr marL="342900" indent="-342900" algn="ctr">
              <a:buFont typeface="Wingdings" panose="05000000000000000000" pitchFamily="2" charset="2"/>
              <a:buChar char="è"/>
            </a:pPr>
            <a:endParaRPr lang="en-US" sz="2000" dirty="0">
              <a:solidFill>
                <a:schemeClr val="tx1">
                  <a:lumMod val="95000"/>
                </a:schemeClr>
              </a:solidFill>
            </a:endParaRPr>
          </a:p>
        </p:txBody>
      </p:sp>
    </p:spTree>
    <p:extLst>
      <p:ext uri="{BB962C8B-B14F-4D97-AF65-F5344CB8AC3E}">
        <p14:creationId xmlns:p14="http://schemas.microsoft.com/office/powerpoint/2010/main" val="719916531"/>
      </p:ext>
    </p:extLst>
  </p:cSld>
  <p:clrMapOvr>
    <a:masterClrMapping/>
  </p:clrMapOvr>
</p:sld>
</file>

<file path=ppt/theme/theme1.xml><?xml version="1.0" encoding="utf-8"?>
<a:theme xmlns:a="http://schemas.openxmlformats.org/drawingml/2006/main" name="Parcel">
  <a:themeElements>
    <a:clrScheme name="Parcel">
      <a:dk1>
        <a:srgbClr val="000000"/>
      </a:dk1>
      <a:lt1>
        <a:sysClr val="window" lastClr="FFFFFF"/>
      </a:lt1>
      <a:dk2>
        <a:srgbClr val="5E5E5E"/>
      </a:dk2>
      <a:lt2>
        <a:srgbClr val="DDDDDD"/>
      </a:lt2>
      <a:accent1>
        <a:srgbClr val="A6B727"/>
      </a:accent1>
      <a:accent2>
        <a:srgbClr val="418AB3"/>
      </a:accent2>
      <a:accent3>
        <a:srgbClr val="F69200"/>
      </a:accent3>
      <a:accent4>
        <a:srgbClr val="838383"/>
      </a:accent4>
      <a:accent5>
        <a:srgbClr val="FEC306"/>
      </a:accent5>
      <a:accent6>
        <a:srgbClr val="DF5327"/>
      </a:accent6>
      <a:hlink>
        <a:srgbClr val="F59E00"/>
      </a:hlink>
      <a:folHlink>
        <a:srgbClr val="B2B2B2"/>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A425FB89-E954-4A2A-81DC-D90804A94D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TM10001115[[fn=Parcel]]</Template>
  <TotalTime>671</TotalTime>
  <Words>1746</Words>
  <Application>Microsoft Office PowerPoint</Application>
  <PresentationFormat>Widescreen</PresentationFormat>
  <Paragraphs>137</Paragraphs>
  <Slides>12</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Gill Sans MT</vt:lpstr>
      <vt:lpstr>Wingdings</vt:lpstr>
      <vt:lpstr>Parcel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Antonio Moeaki</dc:creator>
  <cp:lastModifiedBy>Antonio Moeaki</cp:lastModifiedBy>
  <cp:revision>1</cp:revision>
  <dcterms:created xsi:type="dcterms:W3CDTF">2025-12-20T21:16:10Z</dcterms:created>
  <dcterms:modified xsi:type="dcterms:W3CDTF">2025-12-21T08:27:34Z</dcterms:modified>
</cp:coreProperties>
</file>